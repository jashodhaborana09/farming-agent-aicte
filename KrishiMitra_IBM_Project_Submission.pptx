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7" r:id="rId9"/>
    <p:sldId id="272" r:id="rId10"/>
    <p:sldId id="273" r:id="rId11"/>
    <p:sldId id="265" r:id="rId12"/>
    <p:sldId id="266"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A783CE-861A-4DAF-A3FD-A50CC0E10388}" v="3" dt="2026-07-15T13:43:55.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ndra araveeti" userId="3785281e2ccaec25" providerId="LiveId" clId="{F6C36C63-39AC-4EA1-929B-F846FB10C515}"/>
    <pc:docChg chg="delSld modSld">
      <pc:chgData name="mahendra araveeti" userId="3785281e2ccaec25" providerId="LiveId" clId="{F6C36C63-39AC-4EA1-929B-F846FB10C515}" dt="2026-07-15T14:00:05.647" v="48" actId="2696"/>
      <pc:docMkLst>
        <pc:docMk/>
      </pc:docMkLst>
      <pc:sldChg chg="modSp mod">
        <pc:chgData name="mahendra araveeti" userId="3785281e2ccaec25" providerId="LiveId" clId="{F6C36C63-39AC-4EA1-929B-F846FB10C515}" dt="2026-07-15T13:46:31.321" v="47" actId="20577"/>
        <pc:sldMkLst>
          <pc:docMk/>
          <pc:sldMk cId="1700120141" sldId="258"/>
        </pc:sldMkLst>
        <pc:spChg chg="mod">
          <ac:chgData name="mahendra araveeti" userId="3785281e2ccaec25" providerId="LiveId" clId="{F6C36C63-39AC-4EA1-929B-F846FB10C515}" dt="2026-07-15T13:46:31.321" v="47" actId="20577"/>
          <ac:spMkLst>
            <pc:docMk/>
            <pc:sldMk cId="1700120141" sldId="258"/>
            <ac:spMk id="7" creationId="{3159244D-159E-8110-E641-3FB306561519}"/>
          </ac:spMkLst>
        </pc:spChg>
      </pc:sldChg>
      <pc:sldChg chg="del">
        <pc:chgData name="mahendra araveeti" userId="3785281e2ccaec25" providerId="LiveId" clId="{F6C36C63-39AC-4EA1-929B-F846FB10C515}" dt="2026-07-15T14:00:05.647" v="48" actId="2696"/>
        <pc:sldMkLst>
          <pc:docMk/>
          <pc:sldMk cId="416641468" sldId="261"/>
        </pc:sldMkLst>
      </pc:sldChg>
      <pc:sldChg chg="del">
        <pc:chgData name="mahendra araveeti" userId="3785281e2ccaec25" providerId="LiveId" clId="{F6C36C63-39AC-4EA1-929B-F846FB10C515}" dt="2026-07-15T13:05:09.171" v="3" actId="2696"/>
        <pc:sldMkLst>
          <pc:docMk/>
          <pc:sldMk cId="356167827" sldId="262"/>
        </pc:sldMkLst>
      </pc:sldChg>
      <pc:sldChg chg="addSp modSp mod">
        <pc:chgData name="mahendra araveeti" userId="3785281e2ccaec25" providerId="LiveId" clId="{F6C36C63-39AC-4EA1-929B-F846FB10C515}" dt="2026-07-15T13:37:06.116" v="26" actId="1076"/>
        <pc:sldMkLst>
          <pc:docMk/>
          <pc:sldMk cId="198483490" sldId="266"/>
        </pc:sldMkLst>
        <pc:spChg chg="mod">
          <ac:chgData name="mahendra araveeti" userId="3785281e2ccaec25" providerId="LiveId" clId="{F6C36C63-39AC-4EA1-929B-F846FB10C515}" dt="2026-07-15T13:37:02.686" v="25" actId="1076"/>
          <ac:spMkLst>
            <pc:docMk/>
            <pc:sldMk cId="198483490" sldId="266"/>
            <ac:spMk id="3" creationId="{6C24A7FB-500C-C52D-AB09-5262109432BF}"/>
          </ac:spMkLst>
        </pc:spChg>
        <pc:spChg chg="add mod">
          <ac:chgData name="mahendra araveeti" userId="3785281e2ccaec25" providerId="LiveId" clId="{F6C36C63-39AC-4EA1-929B-F846FB10C515}" dt="2026-07-15T13:37:06.116" v="26" actId="1076"/>
          <ac:spMkLst>
            <pc:docMk/>
            <pc:sldMk cId="198483490" sldId="266"/>
            <ac:spMk id="4" creationId="{52D6934E-DF1E-C813-1F86-5E00A3072B6D}"/>
          </ac:spMkLst>
        </pc:spChg>
      </pc:sldChg>
      <pc:sldChg chg="addSp modSp mod">
        <pc:chgData name="mahendra araveeti" userId="3785281e2ccaec25" providerId="LiveId" clId="{F6C36C63-39AC-4EA1-929B-F846FB10C515}" dt="2026-07-15T13:36:42.941" v="23" actId="255"/>
        <pc:sldMkLst>
          <pc:docMk/>
          <pc:sldMk cId="3725316218" sldId="267"/>
        </pc:sldMkLst>
        <pc:spChg chg="add mod">
          <ac:chgData name="mahendra araveeti" userId="3785281e2ccaec25" providerId="LiveId" clId="{F6C36C63-39AC-4EA1-929B-F846FB10C515}" dt="2026-07-15T13:36:15.659" v="19" actId="255"/>
          <ac:spMkLst>
            <pc:docMk/>
            <pc:sldMk cId="3725316218" sldId="267"/>
            <ac:spMk id="8" creationId="{4E8C296B-D3B3-1067-C837-983A6ACB63D1}"/>
          </ac:spMkLst>
        </pc:spChg>
        <pc:spChg chg="add mod">
          <ac:chgData name="mahendra araveeti" userId="3785281e2ccaec25" providerId="LiveId" clId="{F6C36C63-39AC-4EA1-929B-F846FB10C515}" dt="2026-07-15T13:36:42.941" v="23" actId="255"/>
          <ac:spMkLst>
            <pc:docMk/>
            <pc:sldMk cId="3725316218" sldId="267"/>
            <ac:spMk id="10" creationId="{4F4EC469-A569-79C9-541F-7CB581D382ED}"/>
          </ac:spMkLst>
        </pc:spChg>
        <pc:picChg chg="add mod">
          <ac:chgData name="mahendra araveeti" userId="3785281e2ccaec25" providerId="LiveId" clId="{F6C36C63-39AC-4EA1-929B-F846FB10C515}" dt="2026-07-15T13:35:10.784" v="12" actId="14100"/>
          <ac:picMkLst>
            <pc:docMk/>
            <pc:sldMk cId="3725316218" sldId="267"/>
            <ac:picMk id="4" creationId="{6E51A161-C047-7956-EF61-C465E113C1DD}"/>
          </ac:picMkLst>
        </pc:picChg>
        <pc:picChg chg="add mod">
          <ac:chgData name="mahendra araveeti" userId="3785281e2ccaec25" providerId="LiveId" clId="{F6C36C63-39AC-4EA1-929B-F846FB10C515}" dt="2026-07-15T13:35:33.871" v="15" actId="1076"/>
          <ac:picMkLst>
            <pc:docMk/>
            <pc:sldMk cId="3725316218" sldId="267"/>
            <ac:picMk id="6" creationId="{C168B5A6-57A0-610D-5078-789F41C6B11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55E46-A64E-8670-5D5A-5C2B9A5E68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3081A9C-8170-E8F2-DD29-CF2D0D26F2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A8B552-3485-36C4-7A6F-FB38BDB073E5}"/>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5" name="Footer Placeholder 4">
            <a:extLst>
              <a:ext uri="{FF2B5EF4-FFF2-40B4-BE49-F238E27FC236}">
                <a16:creationId xmlns:a16="http://schemas.microsoft.com/office/drawing/2014/main" id="{BC800003-38E1-0C49-A1CE-5B4ECA57C0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10C0A9-E61A-155F-7A9D-DB0F5F4EDB6D}"/>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614666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9A1D-9787-C8DB-1836-01A7EAF792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30CAD5-3091-9C4E-1670-2B77648540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59AFE3-8145-8129-92D9-1E21DD836C00}"/>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5" name="Footer Placeholder 4">
            <a:extLst>
              <a:ext uri="{FF2B5EF4-FFF2-40B4-BE49-F238E27FC236}">
                <a16:creationId xmlns:a16="http://schemas.microsoft.com/office/drawing/2014/main" id="{D42DA690-4D0B-D0E2-D8AD-6B215299FA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4CB43E-C816-6EC1-D92F-F3BD2EA7E5F5}"/>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3213373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8A94-C31E-3BC7-6BE0-7E38677F2B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25676C-2664-A8D2-8776-D4DE6533D8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C77AF6-EB0B-5EF4-0A6E-B101EC48AE31}"/>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5" name="Footer Placeholder 4">
            <a:extLst>
              <a:ext uri="{FF2B5EF4-FFF2-40B4-BE49-F238E27FC236}">
                <a16:creationId xmlns:a16="http://schemas.microsoft.com/office/drawing/2014/main" id="{E63D47C2-C4BA-CAC3-E1C6-04B76D3C85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932331-8D31-FDBA-23C1-48C4E0CAA45C}"/>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74670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04AFD-BF59-8B6D-4AEB-A229C177F4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89F93E-B24F-93D2-BD7D-1C24D83D2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A93153-F7C0-BC44-7F07-78E4A24BD9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D57D5A-60E5-CEE3-FD9F-BF1931C97F36}"/>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6" name="Footer Placeholder 5">
            <a:extLst>
              <a:ext uri="{FF2B5EF4-FFF2-40B4-BE49-F238E27FC236}">
                <a16:creationId xmlns:a16="http://schemas.microsoft.com/office/drawing/2014/main" id="{19A35F7E-CDAA-3A56-C36E-E3B1FB8AE7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664C7-0AE2-D3A8-E2FE-6A3D6B04E017}"/>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3150487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3C84A-C186-3098-1257-40980F6FA9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B30C21-58EC-3F1E-513B-8D28947F45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20E9C6-15C3-F15C-3441-69E243EA59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8868DE-FB4E-DCC3-683A-A76A24333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8EB522-314B-5068-15D7-9EC6DF6729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0FE350-8791-1A64-ABC9-7E071583C115}"/>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8" name="Footer Placeholder 7">
            <a:extLst>
              <a:ext uri="{FF2B5EF4-FFF2-40B4-BE49-F238E27FC236}">
                <a16:creationId xmlns:a16="http://schemas.microsoft.com/office/drawing/2014/main" id="{4F9D1CDB-D070-9C50-F606-B12225D779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233EB8-F138-AC00-6054-6D2ABE058493}"/>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2765494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2AF7-B1C9-80DC-D43C-1B8A5EBB06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46569A2-87FB-49B0-31D5-024F6EC4DC3E}"/>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4" name="Footer Placeholder 3">
            <a:extLst>
              <a:ext uri="{FF2B5EF4-FFF2-40B4-BE49-F238E27FC236}">
                <a16:creationId xmlns:a16="http://schemas.microsoft.com/office/drawing/2014/main" id="{B92BBA36-0BF9-448B-5E5C-65EE29166E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F27895B-A35B-AB44-ACD0-72B2736A18F3}"/>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60798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F9CAA6-E67E-C7D5-122C-49EEE8C4D621}"/>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3" name="Footer Placeholder 2">
            <a:extLst>
              <a:ext uri="{FF2B5EF4-FFF2-40B4-BE49-F238E27FC236}">
                <a16:creationId xmlns:a16="http://schemas.microsoft.com/office/drawing/2014/main" id="{ED79BF66-E3CE-A5C9-BF63-46BB92D372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4EDC0A-C78C-0D18-139A-45B0EAA7D375}"/>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229835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343E-7AC2-9631-6F43-089136CA2C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904E49-D4AF-AF07-5384-7C694A7A93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7FF723-DEC1-11A8-1526-2C960D767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47F3C7-97C6-AD87-BBE7-30D1721A4B6D}"/>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6" name="Footer Placeholder 5">
            <a:extLst>
              <a:ext uri="{FF2B5EF4-FFF2-40B4-BE49-F238E27FC236}">
                <a16:creationId xmlns:a16="http://schemas.microsoft.com/office/drawing/2014/main" id="{12D0D412-26FA-91BD-FA8D-C1EE318D80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ABD4D7-C1B2-7D8B-B8D2-0089E4D315AB}"/>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54953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C7766-6010-ACA1-8118-EE2304403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B33761-BE7C-E37C-7155-C01E9DD605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644156-C53D-1168-B856-F5F7583E65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CCB0D9-DBFA-2E2A-4F2F-AB4A4DB0E975}"/>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6" name="Footer Placeholder 5">
            <a:extLst>
              <a:ext uri="{FF2B5EF4-FFF2-40B4-BE49-F238E27FC236}">
                <a16:creationId xmlns:a16="http://schemas.microsoft.com/office/drawing/2014/main" id="{BA0F7E9B-9079-B17D-C995-7800E7521B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E87A38-4F4C-50CA-C810-ED6599D3FA1A}"/>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1044485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AFA03-5D63-2CA6-D761-8AA03C677B3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61CB7E-A81B-27C8-283B-A276532BA3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218DD3-5C17-97E4-79DA-08D4BCD8BC65}"/>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5" name="Footer Placeholder 4">
            <a:extLst>
              <a:ext uri="{FF2B5EF4-FFF2-40B4-BE49-F238E27FC236}">
                <a16:creationId xmlns:a16="http://schemas.microsoft.com/office/drawing/2014/main" id="{44D3EBDA-D46A-DA70-59AA-E66FDFFF1A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633494-4096-DE70-261C-35E841EF798D}"/>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294409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3469BF-53EF-CF51-3E3A-BC91D496A4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8BEFF7-5FFA-A88E-55F8-BB07DECB83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46A159-8423-5125-7B43-750C80BE7C95}"/>
              </a:ext>
            </a:extLst>
          </p:cNvPr>
          <p:cNvSpPr>
            <a:spLocks noGrp="1"/>
          </p:cNvSpPr>
          <p:nvPr>
            <p:ph type="dt" sz="half" idx="10"/>
          </p:nvPr>
        </p:nvSpPr>
        <p:spPr/>
        <p:txBody>
          <a:bodyPr/>
          <a:lstStyle/>
          <a:p>
            <a:fld id="{7F2417B2-4751-4B9C-8C2B-D5960084F2A6}" type="datetimeFigureOut">
              <a:rPr lang="en-IN" smtClean="0"/>
              <a:t>20-07-2026</a:t>
            </a:fld>
            <a:endParaRPr lang="en-IN"/>
          </a:p>
        </p:txBody>
      </p:sp>
      <p:sp>
        <p:nvSpPr>
          <p:cNvPr id="5" name="Footer Placeholder 4">
            <a:extLst>
              <a:ext uri="{FF2B5EF4-FFF2-40B4-BE49-F238E27FC236}">
                <a16:creationId xmlns:a16="http://schemas.microsoft.com/office/drawing/2014/main" id="{55B8994A-24AB-F738-4FD2-D9A68E002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A197F2-94F0-3C8E-B0B4-442DE454FD29}"/>
              </a:ext>
            </a:extLst>
          </p:cNvPr>
          <p:cNvSpPr>
            <a:spLocks noGrp="1"/>
          </p:cNvSpPr>
          <p:nvPr>
            <p:ph type="sldNum" sz="quarter" idx="12"/>
          </p:nvPr>
        </p:nvSpPr>
        <p:spPr/>
        <p:txBody>
          <a:bodyPr/>
          <a:lstStyle/>
          <a:p>
            <a:fld id="{2B038043-0EDA-41BB-812C-E05C39C53A38}" type="slidenum">
              <a:rPr lang="en-IN" smtClean="0"/>
              <a:t>‹#›</a:t>
            </a:fld>
            <a:endParaRPr lang="en-IN"/>
          </a:p>
        </p:txBody>
      </p:sp>
    </p:spTree>
    <p:extLst>
      <p:ext uri="{BB962C8B-B14F-4D97-AF65-F5344CB8AC3E}">
        <p14:creationId xmlns:p14="http://schemas.microsoft.com/office/powerpoint/2010/main" val="3805696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13282E-CE11-D56C-B6CD-FCED3A8D5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B8EA89-2DEF-5D03-5315-95907404BA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05361E-6471-EE42-020C-C0D23EC22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2417B2-4751-4B9C-8C2B-D5960084F2A6}" type="datetimeFigureOut">
              <a:rPr lang="en-IN" smtClean="0"/>
              <a:t>20-07-2026</a:t>
            </a:fld>
            <a:endParaRPr lang="en-IN"/>
          </a:p>
        </p:txBody>
      </p:sp>
      <p:sp>
        <p:nvSpPr>
          <p:cNvPr id="5" name="Footer Placeholder 4">
            <a:extLst>
              <a:ext uri="{FF2B5EF4-FFF2-40B4-BE49-F238E27FC236}">
                <a16:creationId xmlns:a16="http://schemas.microsoft.com/office/drawing/2014/main" id="{0880D3CE-ED30-7235-CDEA-E6551B036B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E4C449-6482-46C3-2FE2-1A9FA90E4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038043-0EDA-41BB-812C-E05C39C53A38}" type="slidenum">
              <a:rPr lang="en-IN" smtClean="0"/>
              <a:t>‹#›</a:t>
            </a:fld>
            <a:endParaRPr lang="en-IN"/>
          </a:p>
        </p:txBody>
      </p:sp>
    </p:spTree>
    <p:extLst>
      <p:ext uri="{BB962C8B-B14F-4D97-AF65-F5344CB8AC3E}">
        <p14:creationId xmlns:p14="http://schemas.microsoft.com/office/powerpoint/2010/main" val="1250324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jashodhaborana09/Farming-Agent-AICTE"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D5DB29-FF78-399F-9968-5E92724E253F}"/>
              </a:ext>
            </a:extLst>
          </p:cNvPr>
          <p:cNvSpPr txBox="1"/>
          <p:nvPr/>
        </p:nvSpPr>
        <p:spPr>
          <a:xfrm>
            <a:off x="530941" y="2381646"/>
            <a:ext cx="11130116" cy="523220"/>
          </a:xfrm>
          <a:prstGeom prst="rect">
            <a:avLst/>
          </a:prstGeom>
          <a:noFill/>
        </p:spPr>
        <p:txBody>
          <a:bodyPr wrap="square">
            <a:spAutoFit/>
          </a:bodyPr>
          <a:lstStyle/>
          <a:p>
            <a:pPr algn="ctr" rtl="0">
              <a:buNone/>
            </a:pPr>
            <a:r>
              <a:rPr sz="2800" b="1" dirty="0">
                <a:latin typeface="Arial" panose="020B0604020202020204" pitchFamily="34" charset="0"/>
                <a:cs typeface="Arial" panose="020B0604020202020204" pitchFamily="34" charset="0"/>
              </a:rPr>
              <a:t>IBM University Engagement Project Submission</a:t>
            </a:r>
            <a:endParaRPr lang="en-IN" sz="2800" b="1" dirty="0">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531DF77-B9BA-1DCC-1388-CCF3EFB5A5F7}"/>
              </a:ext>
            </a:extLst>
          </p:cNvPr>
          <p:cNvSpPr txBox="1"/>
          <p:nvPr/>
        </p:nvSpPr>
        <p:spPr>
          <a:xfrm>
            <a:off x="1651818" y="3429000"/>
            <a:ext cx="8888361" cy="707886"/>
          </a:xfrm>
          <a:prstGeom prst="rect">
            <a:avLst/>
          </a:prstGeom>
          <a:noFill/>
        </p:spPr>
        <p:txBody>
          <a:bodyPr wrap="square">
            <a:spAutoFit/>
          </a:bodyPr>
          <a:lstStyle/>
          <a:p>
            <a:pPr marL="228600" indent="-228600" algn="ctr" rtl="0">
              <a:spcBef>
                <a:spcPts val="1000"/>
              </a:spcBef>
              <a:buNone/>
            </a:pPr>
            <a:r>
              <a:rPr sz="2000" dirty="0">
                <a:latin typeface="Arial" panose="020B0604020202020204" pitchFamily="34" charset="0"/>
                <a:cs typeface="Arial" panose="020B0604020202020204" pitchFamily="34" charset="0"/>
              </a:rPr>
              <a:t>“</a:t>
            </a:r>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AI Agent for Smart Farming Advice with IBM Granite and watsonx.ai”</a:t>
            </a:r>
            <a:endParaRPr lang="en-IN" sz="2000" b="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1320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0B61096-0ACC-0B9F-09EF-40440DA11617}"/>
              </a:ext>
            </a:extLst>
          </p:cNvPr>
          <p:cNvGraphicFramePr>
            <a:graphicFrameLocks noGrp="1"/>
          </p:cNvGraphicFramePr>
          <p:nvPr>
            <p:ph idx="1"/>
            <p:extLst>
              <p:ext uri="{D42A27DB-BD31-4B8C-83A1-F6EECF244321}">
                <p14:modId xmlns:p14="http://schemas.microsoft.com/office/powerpoint/2010/main" val="2715108596"/>
              </p:ext>
            </p:extLst>
          </p:nvPr>
        </p:nvGraphicFramePr>
        <p:xfrm>
          <a:off x="1415845" y="2310514"/>
          <a:ext cx="7528560" cy="1729740"/>
        </p:xfrm>
        <a:graphic>
          <a:graphicData uri="http://schemas.openxmlformats.org/drawingml/2006/table">
            <a:tbl>
              <a:tblPr/>
              <a:tblGrid>
                <a:gridCol w="1653540">
                  <a:extLst>
                    <a:ext uri="{9D8B030D-6E8A-4147-A177-3AD203B41FA5}">
                      <a16:colId xmlns:a16="http://schemas.microsoft.com/office/drawing/2014/main" val="2889714903"/>
                    </a:ext>
                  </a:extLst>
                </a:gridCol>
                <a:gridCol w="1958340">
                  <a:extLst>
                    <a:ext uri="{9D8B030D-6E8A-4147-A177-3AD203B41FA5}">
                      <a16:colId xmlns:a16="http://schemas.microsoft.com/office/drawing/2014/main" val="1674512733"/>
                    </a:ext>
                  </a:extLst>
                </a:gridCol>
                <a:gridCol w="1958340">
                  <a:extLst>
                    <a:ext uri="{9D8B030D-6E8A-4147-A177-3AD203B41FA5}">
                      <a16:colId xmlns:a16="http://schemas.microsoft.com/office/drawing/2014/main" val="1182858402"/>
                    </a:ext>
                  </a:extLst>
                </a:gridCol>
                <a:gridCol w="1958340">
                  <a:extLst>
                    <a:ext uri="{9D8B030D-6E8A-4147-A177-3AD203B41FA5}">
                      <a16:colId xmlns:a16="http://schemas.microsoft.com/office/drawing/2014/main" val="2803252306"/>
                    </a:ext>
                  </a:extLst>
                </a:gridCol>
              </a:tblGrid>
              <a:tr h="777240">
                <a:tc>
                  <a:txBody>
                    <a:bodyPr/>
                    <a:lstStyle/>
                    <a:p>
                      <a:pPr algn="ctr" rtl="0" fontAlgn="ctr">
                        <a:buNone/>
                      </a:pPr>
                      <a:r>
                        <a:rPr lang="en-IN" sz="1800" b="0" i="0" u="none" strike="noStrike" dirty="0">
                          <a:solidFill>
                            <a:srgbClr val="000000"/>
                          </a:solidFill>
                          <a:effectLst/>
                          <a:latin typeface="Arial" panose="020B0604020202020204" pitchFamily="34" charset="0"/>
                        </a:rPr>
                        <a:t>Student Name</a:t>
                      </a:r>
                      <a:endParaRPr lang="en-IN" dirty="0">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Recent Passport Photo</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Email ID </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tc>
                  <a:txBody>
                    <a:bodyPr/>
                    <a:lstStyle/>
                    <a:p>
                      <a:pPr algn="ctr" rtl="0" fontAlgn="ctr">
                        <a:buNone/>
                      </a:pPr>
                      <a:r>
                        <a:rPr lang="en-IN" sz="1800" b="0" i="0" u="none" strike="noStrike">
                          <a:solidFill>
                            <a:srgbClr val="000000"/>
                          </a:solidFill>
                          <a:effectLst/>
                          <a:latin typeface="Arial" panose="020B0604020202020204" pitchFamily="34" charset="0"/>
                        </a:rPr>
                        <a:t>Mobile number</a:t>
                      </a:r>
                      <a:endParaRPr lang="en-IN">
                        <a:effectLst/>
                      </a:endParaRPr>
                    </a:p>
                    <a:p>
                      <a:pPr algn="ctr" rtl="0" fontAlgn="ctr">
                        <a:buNone/>
                      </a:pPr>
                      <a:r>
                        <a:rPr lang="en-IN" sz="1800" b="0" i="0" u="none" strike="noStrike">
                          <a:solidFill>
                            <a:srgbClr val="000000"/>
                          </a:solidFill>
                          <a:effectLst/>
                          <a:latin typeface="Arial" panose="020B0604020202020204" pitchFamily="34" charset="0"/>
                        </a:rPr>
                        <a:t>[WhatsApp] </a:t>
                      </a:r>
                      <a:endParaRPr lang="en-IN">
                        <a:effectLst/>
                      </a:endParaRPr>
                    </a:p>
                  </a:txBody>
                  <a:tcPr marL="76200" marR="76200" marT="38100" marB="38100" anchor="ctr">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10157" cap="flat" cmpd="sng" algn="ctr">
                      <a:solidFill>
                        <a:srgbClr val="FFFFFF"/>
                      </a:solidFill>
                      <a:prstDash val="solid"/>
                      <a:round/>
                      <a:headEnd type="none" w="med" len="med"/>
                      <a:tailEnd type="none" w="med" len="med"/>
                    </a:lnT>
                    <a:lnB w="3048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364221828"/>
                  </a:ext>
                </a:extLst>
              </a:tr>
              <a:tr h="952500">
                <a:tc>
                  <a:txBody>
                    <a:bodyPr/>
                    <a:lstStyle/>
                    <a:p>
                      <a:r>
                        <a:t>Jashodha Borana</a:t>
                      </a:r>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endParaRPr dirty="0"/>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r>
                        <a:rPr lang="en-IN" dirty="0"/>
                        <a:t>okaymanu00@gmail.com</a:t>
                      </a:r>
                      <a:endParaRPr dirty="0"/>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tc>
                  <a:txBody>
                    <a:bodyPr/>
                    <a:lstStyle/>
                    <a:p>
                      <a:r>
                        <a:rPr lang="en-IN" dirty="0"/>
                        <a:t>9951900970</a:t>
                      </a:r>
                      <a:endParaRPr dirty="0"/>
                    </a:p>
                  </a:txBody>
                  <a:tcPr marL="76200" marR="76200" marT="38100" marB="38100">
                    <a:lnL w="10157" cap="flat" cmpd="sng" algn="ctr">
                      <a:solidFill>
                        <a:srgbClr val="FFFFFF"/>
                      </a:solidFill>
                      <a:prstDash val="solid"/>
                      <a:round/>
                      <a:headEnd type="none" w="med" len="med"/>
                      <a:tailEnd type="none" w="med" len="med"/>
                    </a:lnL>
                    <a:lnR w="10157" cap="flat" cmpd="sng" algn="ctr">
                      <a:solidFill>
                        <a:srgbClr val="FFFFFF"/>
                      </a:solidFill>
                      <a:prstDash val="solid"/>
                      <a:round/>
                      <a:headEnd type="none" w="med" len="med"/>
                      <a:tailEnd type="none" w="med" len="med"/>
                    </a:lnR>
                    <a:lnT w="30480" cap="flat" cmpd="sng" algn="ctr">
                      <a:solidFill>
                        <a:srgbClr val="FFFFFF"/>
                      </a:solidFill>
                      <a:prstDash val="solid"/>
                      <a:round/>
                      <a:headEnd type="none" w="med" len="med"/>
                      <a:tailEnd type="none" w="med" len="med"/>
                    </a:lnT>
                    <a:lnB w="10157" cap="flat" cmpd="sng" algn="ctr">
                      <a:solidFill>
                        <a:srgbClr val="FFFFFF"/>
                      </a:solidFill>
                      <a:prstDash val="solid"/>
                      <a:round/>
                      <a:headEnd type="none" w="med" len="med"/>
                      <a:tailEnd type="none" w="med" len="med"/>
                    </a:lnB>
                    <a:solidFill>
                      <a:srgbClr val="D0DEEF"/>
                    </a:solidFill>
                  </a:tcPr>
                </a:tc>
                <a:extLst>
                  <a:ext uri="{0D108BD9-81ED-4DB2-BD59-A6C34878D82A}">
                    <a16:rowId xmlns:a16="http://schemas.microsoft.com/office/drawing/2014/main" val="3486056378"/>
                  </a:ext>
                </a:extLst>
              </a:tr>
            </a:tbl>
          </a:graphicData>
        </a:graphic>
      </p:graphicFrame>
      <p:sp>
        <p:nvSpPr>
          <p:cNvPr id="8" name="TextBox 7">
            <a:extLst>
              <a:ext uri="{FF2B5EF4-FFF2-40B4-BE49-F238E27FC236}">
                <a16:creationId xmlns:a16="http://schemas.microsoft.com/office/drawing/2014/main" id="{79924241-0DF0-E7EF-4E06-FBF34E8C6128}"/>
              </a:ext>
            </a:extLst>
          </p:cNvPr>
          <p:cNvSpPr txBox="1"/>
          <p:nvPr/>
        </p:nvSpPr>
        <p:spPr>
          <a:xfrm>
            <a:off x="1415845" y="603214"/>
            <a:ext cx="6096000" cy="1015663"/>
          </a:xfrm>
          <a:prstGeom prst="rect">
            <a:avLst/>
          </a:prstGeom>
          <a:noFill/>
        </p:spPr>
        <p:txBody>
          <a:bodyPr wrap="square">
            <a:spAutoFit/>
          </a:bodyPr>
          <a:lstStyle/>
          <a:p>
            <a:pPr rtl="0">
              <a:buNone/>
            </a:pPr>
            <a:r>
              <a:t>Project Title – KrishiMitra: AI Agent for Smart Farming Advice</a:t>
            </a:r>
            <a:endParaRPr lang="en-IN" sz="2000" b="0" dirty="0">
              <a:effectLst/>
            </a:endParaRPr>
          </a:p>
        </p:txBody>
      </p:sp>
      <p:sp>
        <p:nvSpPr>
          <p:cNvPr id="10" name="TextBox 9">
            <a:extLst>
              <a:ext uri="{FF2B5EF4-FFF2-40B4-BE49-F238E27FC236}">
                <a16:creationId xmlns:a16="http://schemas.microsoft.com/office/drawing/2014/main" id="{BB224CBD-7785-7349-21E7-7D3883908F55}"/>
              </a:ext>
            </a:extLst>
          </p:cNvPr>
          <p:cNvSpPr txBox="1"/>
          <p:nvPr/>
        </p:nvSpPr>
        <p:spPr>
          <a:xfrm>
            <a:off x="1415845" y="1371047"/>
            <a:ext cx="10186220" cy="400110"/>
          </a:xfrm>
          <a:prstGeom prst="rect">
            <a:avLst/>
          </a:prstGeom>
          <a:noFill/>
        </p:spPr>
        <p:txBody>
          <a:bodyPr wrap="square">
            <a:spAutoFit/>
          </a:bodyPr>
          <a:lstStyle/>
          <a:p>
            <a:r>
              <a:t>Domain of Project – Artificial Intelligence (AI), AgricultureTech &amp; Agentic AI</a:t>
            </a:r>
          </a:p>
        </p:txBody>
      </p:sp>
      <p:pic>
        <p:nvPicPr>
          <p:cNvPr id="3" name="Picture 2">
            <a:extLst>
              <a:ext uri="{FF2B5EF4-FFF2-40B4-BE49-F238E27FC236}">
                <a16:creationId xmlns:a16="http://schemas.microsoft.com/office/drawing/2014/main" id="{861AFD31-A7B6-1215-8B1A-63EC30581D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9378" y="3078347"/>
            <a:ext cx="1074467" cy="961907"/>
          </a:xfrm>
          <a:prstGeom prst="rect">
            <a:avLst/>
          </a:prstGeom>
        </p:spPr>
      </p:pic>
    </p:spTree>
    <p:extLst>
      <p:ext uri="{BB962C8B-B14F-4D97-AF65-F5344CB8AC3E}">
        <p14:creationId xmlns:p14="http://schemas.microsoft.com/office/powerpoint/2010/main" val="1902691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159244D-159E-8110-E641-3FB306561519}"/>
              </a:ext>
            </a:extLst>
          </p:cNvPr>
          <p:cNvSpPr txBox="1"/>
          <p:nvPr/>
        </p:nvSpPr>
        <p:spPr>
          <a:xfrm>
            <a:off x="452284" y="416401"/>
            <a:ext cx="11356257" cy="4708981"/>
          </a:xfrm>
          <a:prstGeom prst="rect">
            <a:avLst/>
          </a:prstGeom>
          <a:noFill/>
        </p:spPr>
        <p:txBody>
          <a:bodyPr wrap="square">
            <a:spAutoFit/>
          </a:bodyPr>
          <a:lstStyle/>
          <a:p>
            <a:pPr rtl="0">
              <a:buNone/>
            </a:pPr>
            <a:r>
              <a:rPr sz="2000" b="1" dirty="0">
                <a:latin typeface="Arial" panose="020B0604020202020204" pitchFamily="34" charset="0"/>
                <a:cs typeface="Arial" panose="020B0604020202020204" pitchFamily="34" charset="0"/>
              </a:rPr>
              <a:t>Problem Statement –</a:t>
            </a:r>
            <a:endParaRPr lang="en-IN" sz="2000" b="1" dirty="0">
              <a:effectLst/>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Problem Statement : </a:t>
            </a:r>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Smart Farming Agent</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The Challenge</a:t>
            </a:r>
          </a:p>
          <a:p>
            <a:r>
              <a:rPr sz="2000" dirty="0">
                <a:latin typeface="Arial" panose="020B0604020202020204" pitchFamily="34" charset="0"/>
                <a:cs typeface="Arial" panose="020B0604020202020204" pitchFamily="34" charset="0"/>
              </a:rPr>
              <a:t>Small-scale Indian farmers often struggle to get timely, </a:t>
            </a:r>
            <a:r>
              <a:rPr sz="2000" dirty="0" err="1">
                <a:latin typeface="Arial" panose="020B0604020202020204" pitchFamily="34" charset="0"/>
                <a:cs typeface="Arial" panose="020B0604020202020204" pitchFamily="34" charset="0"/>
              </a:rPr>
              <a:t>localised</a:t>
            </a:r>
            <a:r>
              <a:rPr sz="2000" dirty="0">
                <a:latin typeface="Arial" panose="020B0604020202020204" pitchFamily="34" charset="0"/>
                <a:cs typeface="Arial" panose="020B0604020202020204" pitchFamily="34" charset="0"/>
              </a:rPr>
              <a:t> and trustworthy farming advice. Generic search results do not consider soil type, season, weather, mandi prices, pest issues, government schemes or the farmer’s preferred language.</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The Objective</a:t>
            </a:r>
          </a:p>
          <a:p>
            <a:r>
              <a:rPr sz="2000" dirty="0">
                <a:latin typeface="Arial" panose="020B0604020202020204" pitchFamily="34" charset="0"/>
                <a:cs typeface="Arial" panose="020B0604020202020204" pitchFamily="34" charset="0"/>
              </a:rPr>
              <a:t>Develop an AI-powered Farming Agent using IBM watsonx.ai Granite Models that:</a:t>
            </a:r>
          </a:p>
          <a:p>
            <a:r>
              <a:rPr sz="2000" dirty="0">
                <a:latin typeface="Arial" panose="020B0604020202020204" pitchFamily="34" charset="0"/>
                <a:cs typeface="Arial" panose="020B0604020202020204" pitchFamily="34" charset="0"/>
              </a:rPr>
              <a:t>Provides </a:t>
            </a:r>
            <a:r>
              <a:rPr sz="2000" dirty="0" err="1">
                <a:latin typeface="Arial" panose="020B0604020202020204" pitchFamily="34" charset="0"/>
                <a:cs typeface="Arial" panose="020B0604020202020204" pitchFamily="34" charset="0"/>
              </a:rPr>
              <a:t>personalised</a:t>
            </a:r>
            <a:r>
              <a:rPr sz="2000" dirty="0">
                <a:latin typeface="Arial" panose="020B0604020202020204" pitchFamily="34" charset="0"/>
                <a:cs typeface="Arial" panose="020B0604020202020204" pitchFamily="34" charset="0"/>
              </a:rPr>
              <a:t> crop and farming guidance.</a:t>
            </a:r>
          </a:p>
          <a:p>
            <a:r>
              <a:rPr sz="2000" dirty="0">
                <a:latin typeface="Arial" panose="020B0604020202020204" pitchFamily="34" charset="0"/>
                <a:cs typeface="Arial" panose="020B0604020202020204" pitchFamily="34" charset="0"/>
              </a:rPr>
              <a:t>Supports farmer queries in 10 Indian languages.</a:t>
            </a:r>
          </a:p>
          <a:p>
            <a:r>
              <a:rPr sz="2000" dirty="0">
                <a:latin typeface="Arial" panose="020B0604020202020204" pitchFamily="34" charset="0"/>
                <a:cs typeface="Arial" panose="020B0604020202020204" pitchFamily="34" charset="0"/>
              </a:rPr>
              <a:t>Uses RAG to answer from a curated agriculture knowledge base.</a:t>
            </a:r>
          </a:p>
          <a:p>
            <a:r>
              <a:rPr sz="2000" dirty="0">
                <a:latin typeface="Arial" panose="020B0604020202020204" pitchFamily="34" charset="0"/>
                <a:cs typeface="Arial" panose="020B0604020202020204" pitchFamily="34" charset="0"/>
              </a:rPr>
              <a:t>Integrates live weather, mandi price and crop recommendation tools.</a:t>
            </a:r>
          </a:p>
          <a:p>
            <a:r>
              <a:rPr sz="2000" dirty="0">
                <a:latin typeface="Arial" panose="020B0604020202020204" pitchFamily="34" charset="0"/>
                <a:cs typeface="Arial" panose="020B0604020202020204" pitchFamily="34" charset="0"/>
              </a:rPr>
              <a:t>Helps farmers make better decisions through a simple web interface.</a:t>
            </a:r>
          </a:p>
        </p:txBody>
      </p:sp>
    </p:spTree>
    <p:extLst>
      <p:ext uri="{BB962C8B-B14F-4D97-AF65-F5344CB8AC3E}">
        <p14:creationId xmlns:p14="http://schemas.microsoft.com/office/powerpoint/2010/main" val="1700120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06B16-5405-61B2-27BD-64977485A9C7}"/>
              </a:ext>
            </a:extLst>
          </p:cNvPr>
          <p:cNvSpPr txBox="1"/>
          <p:nvPr/>
        </p:nvSpPr>
        <p:spPr>
          <a:xfrm>
            <a:off x="491613" y="386904"/>
            <a:ext cx="11041626" cy="4955203"/>
          </a:xfrm>
          <a:prstGeom prst="rect">
            <a:avLst/>
          </a:prstGeom>
          <a:noFill/>
        </p:spPr>
        <p:txBody>
          <a:bodyPr wrap="square">
            <a:spAutoFit/>
          </a:bodyPr>
          <a:lstStyle/>
          <a:p>
            <a:pPr algn="just" rtl="0">
              <a:buNone/>
            </a:pPr>
            <a:r>
              <a:rPr sz="2800" b="1" dirty="0"/>
              <a:t>Proposed Solution -</a:t>
            </a:r>
            <a:endParaRPr lang="en-IN" sz="2800" b="1" dirty="0">
              <a:effectLst/>
              <a:latin typeface="Arial" panose="020B0604020202020204" pitchFamily="34" charset="0"/>
              <a:cs typeface="Arial" panose="020B0604020202020204" pitchFamily="34" charset="0"/>
            </a:endParaRPr>
          </a:p>
          <a:p>
            <a:endParaRPr lang="en-IN" sz="2800" b="0" dirty="0">
              <a:effectLst/>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Proposed Solution: </a:t>
            </a:r>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AI Farming Agent</a:t>
            </a:r>
          </a:p>
          <a:p>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is a RAG-powered AI agent built with </a:t>
            </a:r>
            <a:r>
              <a:rPr sz="2000" dirty="0" err="1">
                <a:latin typeface="Arial" panose="020B0604020202020204" pitchFamily="34" charset="0"/>
                <a:cs typeface="Arial" panose="020B0604020202020204" pitchFamily="34" charset="0"/>
              </a:rPr>
              <a:t>FastAPI</a:t>
            </a:r>
            <a:r>
              <a:rPr sz="2000" dirty="0">
                <a:latin typeface="Arial" panose="020B0604020202020204" pitchFamily="34" charset="0"/>
                <a:cs typeface="Arial" panose="020B0604020202020204" pitchFamily="34" charset="0"/>
              </a:rPr>
              <a:t>, IBM watsonx.ai and IBM Granite models to provide smart farming assistance for Indian farmers. Farmers can ask questions in natural language and receive practical, context-aware advice.</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The system combines an AI chat agent, language detection and translation, crop recommendation engine, live weather service, mandi price service, pest-control guidance and a curated farming knowledge base.</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Powered by IBM Granite generation and embeddings, the solution retrieves relevant farming context, reasons over the farmer’s query and returns useful guidance in the user’s preferred language. It is designed to improve accessibility, decision-making and productivity for small and marginal farmers.</a:t>
            </a:r>
          </a:p>
        </p:txBody>
      </p:sp>
    </p:spTree>
    <p:extLst>
      <p:ext uri="{BB962C8B-B14F-4D97-AF65-F5344CB8AC3E}">
        <p14:creationId xmlns:p14="http://schemas.microsoft.com/office/powerpoint/2010/main" val="371342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D764D2-C47A-40E7-EB6A-7F5FFAFFCE28}"/>
              </a:ext>
            </a:extLst>
          </p:cNvPr>
          <p:cNvSpPr txBox="1"/>
          <p:nvPr/>
        </p:nvSpPr>
        <p:spPr>
          <a:xfrm>
            <a:off x="491614" y="346593"/>
            <a:ext cx="11110451" cy="523220"/>
          </a:xfrm>
          <a:prstGeom prst="rect">
            <a:avLst/>
          </a:prstGeom>
          <a:noFill/>
        </p:spPr>
        <p:txBody>
          <a:bodyPr wrap="square">
            <a:spAutoFit/>
          </a:bodyPr>
          <a:lstStyle/>
          <a:p>
            <a:pPr rtl="0">
              <a:buNone/>
            </a:pPr>
            <a:r>
              <a:rPr sz="2800" b="1" dirty="0">
                <a:latin typeface="Arial" panose="020B0604020202020204" pitchFamily="34" charset="0"/>
                <a:cs typeface="Arial" panose="020B0604020202020204" pitchFamily="34" charset="0"/>
              </a:rPr>
              <a:t>Technology Used</a:t>
            </a:r>
            <a:endParaRPr lang="en-IN" sz="2800" b="1" dirty="0">
              <a:effectLst/>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F04F8AA9-DC68-81BC-7864-1BF6BB7A0B1B}"/>
              </a:ext>
            </a:extLst>
          </p:cNvPr>
          <p:cNvGraphicFramePr>
            <a:graphicFrameLocks noGrp="1"/>
          </p:cNvGraphicFramePr>
          <p:nvPr>
            <p:extLst>
              <p:ext uri="{D42A27DB-BD31-4B8C-83A1-F6EECF244321}">
                <p14:modId xmlns:p14="http://schemas.microsoft.com/office/powerpoint/2010/main" val="2954814558"/>
              </p:ext>
            </p:extLst>
          </p:nvPr>
        </p:nvGraphicFramePr>
        <p:xfrm>
          <a:off x="314960" y="1048019"/>
          <a:ext cx="11287105" cy="4907280"/>
        </p:xfrm>
        <a:graphic>
          <a:graphicData uri="http://schemas.openxmlformats.org/drawingml/2006/table">
            <a:tbl>
              <a:tblPr/>
              <a:tblGrid>
                <a:gridCol w="4930664">
                  <a:extLst>
                    <a:ext uri="{9D8B030D-6E8A-4147-A177-3AD203B41FA5}">
                      <a16:colId xmlns:a16="http://schemas.microsoft.com/office/drawing/2014/main" val="3314941595"/>
                    </a:ext>
                  </a:extLst>
                </a:gridCol>
                <a:gridCol w="6356441">
                  <a:extLst>
                    <a:ext uri="{9D8B030D-6E8A-4147-A177-3AD203B41FA5}">
                      <a16:colId xmlns:a16="http://schemas.microsoft.com/office/drawing/2014/main" val="3742803230"/>
                    </a:ext>
                  </a:extLst>
                </a:gridCol>
              </a:tblGrid>
              <a:tr h="0">
                <a:tc>
                  <a:txBody>
                    <a:bodyPr/>
                    <a:lstStyle/>
                    <a:p>
                      <a:r>
                        <a:rPr sz="2000" dirty="0">
                          <a:latin typeface="Arial" panose="020B0604020202020204" pitchFamily="34" charset="0"/>
                          <a:cs typeface="Arial" panose="020B0604020202020204" pitchFamily="34" charset="0"/>
                        </a:rPr>
                        <a:t>Python </a:t>
                      </a:r>
                      <a:r>
                        <a:rPr sz="2000" dirty="0" err="1">
                          <a:latin typeface="Arial" panose="020B0604020202020204" pitchFamily="34" charset="0"/>
                          <a:cs typeface="Arial" panose="020B0604020202020204" pitchFamily="34" charset="0"/>
                        </a:rPr>
                        <a:t>FastAPI</a:t>
                      </a:r>
                      <a:endParaRPr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sz="2000">
                          <a:latin typeface="Arial" panose="020B0604020202020204" pitchFamily="34" charset="0"/>
                          <a:cs typeface="Arial" panose="020B0604020202020204" pitchFamily="34" charset="0"/>
                        </a:rPr>
                        <a:t>Backend framework for APIs, WebSocket chat and farming-agent orchestration.</a:t>
                      </a:r>
                    </a:p>
                  </a:txBody>
                  <a:tcPr anchor="ctr">
                    <a:lnL>
                      <a:noFill/>
                    </a:lnL>
                    <a:lnR>
                      <a:noFill/>
                    </a:lnR>
                    <a:lnT>
                      <a:noFill/>
                    </a:lnT>
                    <a:lnB>
                      <a:noFill/>
                    </a:lnB>
                    <a:noFill/>
                  </a:tcPr>
                </a:tc>
                <a:extLst>
                  <a:ext uri="{0D108BD9-81ED-4DB2-BD59-A6C34878D82A}">
                    <a16:rowId xmlns:a16="http://schemas.microsoft.com/office/drawing/2014/main" val="3397883482"/>
                  </a:ext>
                </a:extLst>
              </a:tr>
              <a:tr h="0">
                <a:tc>
                  <a:txBody>
                    <a:bodyPr/>
                    <a:lstStyle/>
                    <a:p>
                      <a:r>
                        <a:rPr sz="2000" dirty="0">
                          <a:latin typeface="Arial" panose="020B0604020202020204" pitchFamily="34" charset="0"/>
                          <a:cs typeface="Arial" panose="020B0604020202020204" pitchFamily="34" charset="0"/>
                        </a:rPr>
                        <a:t>IBM Granite Model</a:t>
                      </a:r>
                    </a:p>
                  </a:txBody>
                  <a:tcPr anchor="ctr">
                    <a:lnL>
                      <a:noFill/>
                    </a:lnL>
                    <a:lnR>
                      <a:noFill/>
                    </a:lnR>
                    <a:lnT>
                      <a:noFill/>
                    </a:lnT>
                    <a:lnB>
                      <a:noFill/>
                    </a:lnB>
                    <a:noFill/>
                  </a:tcPr>
                </a:tc>
                <a:tc>
                  <a:txBody>
                    <a:bodyPr/>
                    <a:lstStyle/>
                    <a:p>
                      <a:r>
                        <a:rPr sz="2000">
                          <a:latin typeface="Arial" panose="020B0604020202020204" pitchFamily="34" charset="0"/>
                          <a:cs typeface="Arial" panose="020B0604020202020204" pitchFamily="34" charset="0"/>
                        </a:rPr>
                        <a:t>Provides AI-powered reasoning, answer generation and farming guidance.</a:t>
                      </a:r>
                    </a:p>
                  </a:txBody>
                  <a:tcPr anchor="ctr">
                    <a:lnL>
                      <a:noFill/>
                    </a:lnL>
                    <a:lnR>
                      <a:noFill/>
                    </a:lnR>
                    <a:lnT>
                      <a:noFill/>
                    </a:lnT>
                    <a:lnB>
                      <a:noFill/>
                    </a:lnB>
                    <a:noFill/>
                  </a:tcPr>
                </a:tc>
                <a:extLst>
                  <a:ext uri="{0D108BD9-81ED-4DB2-BD59-A6C34878D82A}">
                    <a16:rowId xmlns:a16="http://schemas.microsoft.com/office/drawing/2014/main" val="1367250827"/>
                  </a:ext>
                </a:extLst>
              </a:tr>
              <a:tr h="0">
                <a:tc>
                  <a:txBody>
                    <a:bodyPr/>
                    <a:lstStyle/>
                    <a:p>
                      <a:r>
                        <a:rPr sz="2000" dirty="0">
                          <a:latin typeface="Arial" panose="020B0604020202020204" pitchFamily="34" charset="0"/>
                          <a:cs typeface="Arial" panose="020B0604020202020204" pitchFamily="34" charset="0"/>
                        </a:rPr>
                        <a:t>IBM watsonx.ai</a:t>
                      </a:r>
                    </a:p>
                  </a:txBody>
                  <a:tcPr anchor="ctr">
                    <a:lnL>
                      <a:noFill/>
                    </a:lnL>
                    <a:lnR>
                      <a:noFill/>
                    </a:lnR>
                    <a:lnT>
                      <a:noFill/>
                    </a:lnT>
                    <a:lnB>
                      <a:noFill/>
                    </a:lnB>
                    <a:noFill/>
                  </a:tcPr>
                </a:tc>
                <a:tc>
                  <a:txBody>
                    <a:bodyPr/>
                    <a:lstStyle/>
                    <a:p>
                      <a:r>
                        <a:rPr sz="2000">
                          <a:latin typeface="Arial" panose="020B0604020202020204" pitchFamily="34" charset="0"/>
                          <a:cs typeface="Arial" panose="020B0604020202020204" pitchFamily="34" charset="0"/>
                        </a:rPr>
                        <a:t>Enables access to Granite LLM and embedding models through IBM Cloud.</a:t>
                      </a:r>
                    </a:p>
                  </a:txBody>
                  <a:tcPr anchor="ctr">
                    <a:lnL>
                      <a:noFill/>
                    </a:lnL>
                    <a:lnR>
                      <a:noFill/>
                    </a:lnR>
                    <a:lnT>
                      <a:noFill/>
                    </a:lnT>
                    <a:lnB>
                      <a:noFill/>
                    </a:lnB>
                    <a:noFill/>
                  </a:tcPr>
                </a:tc>
                <a:extLst>
                  <a:ext uri="{0D108BD9-81ED-4DB2-BD59-A6C34878D82A}">
                    <a16:rowId xmlns:a16="http://schemas.microsoft.com/office/drawing/2014/main" val="4114791564"/>
                  </a:ext>
                </a:extLst>
              </a:tr>
              <a:tr h="0">
                <a:tc>
                  <a:txBody>
                    <a:bodyPr/>
                    <a:lstStyle/>
                    <a:p>
                      <a:r>
                        <a:rPr sz="2000" dirty="0">
                          <a:latin typeface="Arial" panose="020B0604020202020204" pitchFamily="34" charset="0"/>
                          <a:cs typeface="Arial" panose="020B0604020202020204" pitchFamily="34" charset="0"/>
                        </a:rPr>
                        <a:t>RAG + </a:t>
                      </a:r>
                      <a:r>
                        <a:rPr sz="2000" dirty="0" err="1">
                          <a:latin typeface="Arial" panose="020B0604020202020204" pitchFamily="34" charset="0"/>
                          <a:cs typeface="Arial" panose="020B0604020202020204" pitchFamily="34" charset="0"/>
                        </a:rPr>
                        <a:t>ChromaDB</a:t>
                      </a:r>
                      <a:endParaRPr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sz="2000">
                          <a:latin typeface="Arial" panose="020B0604020202020204" pitchFamily="34" charset="0"/>
                          <a:cs typeface="Arial" panose="020B0604020202020204" pitchFamily="34" charset="0"/>
                        </a:rPr>
                        <a:t>Retrieves relevant agriculture knowledge using vector search and embeddings.</a:t>
                      </a:r>
                    </a:p>
                  </a:txBody>
                  <a:tcPr anchor="ctr">
                    <a:lnL>
                      <a:noFill/>
                    </a:lnL>
                    <a:lnR>
                      <a:noFill/>
                    </a:lnR>
                    <a:lnT>
                      <a:noFill/>
                    </a:lnT>
                    <a:lnB>
                      <a:noFill/>
                    </a:lnB>
                    <a:noFill/>
                  </a:tcPr>
                </a:tc>
                <a:extLst>
                  <a:ext uri="{0D108BD9-81ED-4DB2-BD59-A6C34878D82A}">
                    <a16:rowId xmlns:a16="http://schemas.microsoft.com/office/drawing/2014/main" val="3917983240"/>
                  </a:ext>
                </a:extLst>
              </a:tr>
              <a:tr h="0">
                <a:tc>
                  <a:txBody>
                    <a:bodyPr/>
                    <a:lstStyle/>
                    <a:p>
                      <a:r>
                        <a:rPr sz="2000" dirty="0">
                          <a:latin typeface="Arial" panose="020B0604020202020204" pitchFamily="34" charset="0"/>
                          <a:cs typeface="Arial" panose="020B0604020202020204" pitchFamily="34" charset="0"/>
                        </a:rPr>
                        <a:t>Open-</a:t>
                      </a:r>
                      <a:r>
                        <a:rPr sz="2000" dirty="0" err="1">
                          <a:latin typeface="Arial" panose="020B0604020202020204" pitchFamily="34" charset="0"/>
                          <a:cs typeface="Arial" panose="020B0604020202020204" pitchFamily="34" charset="0"/>
                        </a:rPr>
                        <a:t>Meteo</a:t>
                      </a:r>
                      <a:r>
                        <a:rPr sz="2000" dirty="0">
                          <a:latin typeface="Arial" panose="020B0604020202020204" pitchFamily="34" charset="0"/>
                          <a:cs typeface="Arial" panose="020B0604020202020204" pitchFamily="34" charset="0"/>
                        </a:rPr>
                        <a:t> API</a:t>
                      </a:r>
                    </a:p>
                  </a:txBody>
                  <a:tcPr anchor="ctr">
                    <a:lnL>
                      <a:noFill/>
                    </a:lnL>
                    <a:lnR>
                      <a:noFill/>
                    </a:lnR>
                    <a:lnT>
                      <a:noFill/>
                    </a:lnT>
                    <a:lnB>
                      <a:noFill/>
                    </a:lnB>
                    <a:noFill/>
                  </a:tcPr>
                </a:tc>
                <a:tc>
                  <a:txBody>
                    <a:bodyPr/>
                    <a:lstStyle/>
                    <a:p>
                      <a:r>
                        <a:rPr sz="2000" dirty="0">
                          <a:latin typeface="Arial" panose="020B0604020202020204" pitchFamily="34" charset="0"/>
                          <a:cs typeface="Arial" panose="020B0604020202020204" pitchFamily="34" charset="0"/>
                        </a:rPr>
                        <a:t>Provides live 7-day weather forecast for farm-specific advisories.</a:t>
                      </a:r>
                    </a:p>
                  </a:txBody>
                  <a:tcPr anchor="ctr">
                    <a:lnL>
                      <a:noFill/>
                    </a:lnL>
                    <a:lnR>
                      <a:noFill/>
                    </a:lnR>
                    <a:lnT>
                      <a:noFill/>
                    </a:lnT>
                    <a:lnB>
                      <a:noFill/>
                    </a:lnB>
                    <a:noFill/>
                  </a:tcPr>
                </a:tc>
                <a:extLst>
                  <a:ext uri="{0D108BD9-81ED-4DB2-BD59-A6C34878D82A}">
                    <a16:rowId xmlns:a16="http://schemas.microsoft.com/office/drawing/2014/main" val="3806134319"/>
                  </a:ext>
                </a:extLst>
              </a:tr>
              <a:tr h="0">
                <a:tc>
                  <a:txBody>
                    <a:bodyPr/>
                    <a:lstStyle/>
                    <a:p>
                      <a:r>
                        <a:rPr sz="2000">
                          <a:latin typeface="Arial" panose="020B0604020202020204" pitchFamily="34" charset="0"/>
                          <a:cs typeface="Arial" panose="020B0604020202020204" pitchFamily="34" charset="0"/>
                        </a:rPr>
                        <a:t>Agmarknet / MSP Data</a:t>
                      </a:r>
                    </a:p>
                  </a:txBody>
                  <a:tcPr anchor="ctr">
                    <a:lnL>
                      <a:noFill/>
                    </a:lnL>
                    <a:lnR>
                      <a:noFill/>
                    </a:lnR>
                    <a:lnT>
                      <a:noFill/>
                    </a:lnT>
                    <a:lnB>
                      <a:noFill/>
                    </a:lnB>
                    <a:noFill/>
                  </a:tcPr>
                </a:tc>
                <a:tc>
                  <a:txBody>
                    <a:bodyPr/>
                    <a:lstStyle/>
                    <a:p>
                      <a:r>
                        <a:rPr sz="2000" dirty="0">
                          <a:latin typeface="Arial" panose="020B0604020202020204" pitchFamily="34" charset="0"/>
                          <a:cs typeface="Arial" panose="020B0604020202020204" pitchFamily="34" charset="0"/>
                        </a:rPr>
                        <a:t>Supports mandi price information and fallback crop price insights.</a:t>
                      </a:r>
                    </a:p>
                  </a:txBody>
                  <a:tcPr anchor="ctr">
                    <a:lnL>
                      <a:noFill/>
                    </a:lnL>
                    <a:lnR>
                      <a:noFill/>
                    </a:lnR>
                    <a:lnT>
                      <a:noFill/>
                    </a:lnT>
                    <a:lnB>
                      <a:noFill/>
                    </a:lnB>
                    <a:noFill/>
                  </a:tcPr>
                </a:tc>
                <a:extLst>
                  <a:ext uri="{0D108BD9-81ED-4DB2-BD59-A6C34878D82A}">
                    <a16:rowId xmlns:a16="http://schemas.microsoft.com/office/drawing/2014/main" val="2910547831"/>
                  </a:ext>
                </a:extLst>
              </a:tr>
              <a:tr h="0">
                <a:tc>
                  <a:txBody>
                    <a:bodyPr/>
                    <a:lstStyle/>
                    <a:p>
                      <a:r>
                        <a:rPr sz="2000">
                          <a:latin typeface="Arial" panose="020B0604020202020204" pitchFamily="34" charset="0"/>
                          <a:cs typeface="Arial" panose="020B0604020202020204" pitchFamily="34" charset="0"/>
                        </a:rPr>
                        <a:t>HTML, CSS &amp; JavaScript</a:t>
                      </a:r>
                    </a:p>
                  </a:txBody>
                  <a:tcPr anchor="ctr">
                    <a:lnL>
                      <a:noFill/>
                    </a:lnL>
                    <a:lnR>
                      <a:noFill/>
                    </a:lnR>
                    <a:lnT>
                      <a:noFill/>
                    </a:lnT>
                    <a:lnB>
                      <a:noFill/>
                    </a:lnB>
                    <a:noFill/>
                  </a:tcPr>
                </a:tc>
                <a:tc>
                  <a:txBody>
                    <a:bodyPr/>
                    <a:lstStyle/>
                    <a:p>
                      <a:r>
                        <a:rPr sz="2000" dirty="0">
                          <a:latin typeface="Arial" panose="020B0604020202020204" pitchFamily="34" charset="0"/>
                          <a:cs typeface="Arial" panose="020B0604020202020204" pitchFamily="34" charset="0"/>
                        </a:rPr>
                        <a:t>Builds a simple responsive farmer-facing web chat interface.</a:t>
                      </a:r>
                    </a:p>
                  </a:txBody>
                  <a:tcPr anchor="ctr">
                    <a:lnL>
                      <a:noFill/>
                    </a:lnL>
                    <a:lnR>
                      <a:noFill/>
                    </a:lnR>
                    <a:lnT>
                      <a:noFill/>
                    </a:lnT>
                    <a:lnB>
                      <a:noFill/>
                    </a:lnB>
                    <a:noFill/>
                  </a:tcPr>
                </a:tc>
                <a:extLst>
                  <a:ext uri="{0D108BD9-81ED-4DB2-BD59-A6C34878D82A}">
                    <a16:rowId xmlns:a16="http://schemas.microsoft.com/office/drawing/2014/main" val="4166325260"/>
                  </a:ext>
                </a:extLst>
              </a:tr>
            </a:tbl>
          </a:graphicData>
        </a:graphic>
      </p:graphicFrame>
    </p:spTree>
    <p:extLst>
      <p:ext uri="{BB962C8B-B14F-4D97-AF65-F5344CB8AC3E}">
        <p14:creationId xmlns:p14="http://schemas.microsoft.com/office/powerpoint/2010/main" val="148608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181F0-4B1E-2F8C-4B46-FFAD516C4CBC}"/>
              </a:ext>
            </a:extLst>
          </p:cNvPr>
          <p:cNvSpPr txBox="1"/>
          <p:nvPr/>
        </p:nvSpPr>
        <p:spPr>
          <a:xfrm>
            <a:off x="373626" y="308246"/>
            <a:ext cx="6096000" cy="1384995"/>
          </a:xfrm>
          <a:prstGeom prst="rect">
            <a:avLst/>
          </a:prstGeom>
          <a:noFill/>
        </p:spPr>
        <p:txBody>
          <a:bodyPr wrap="square">
            <a:spAutoFit/>
          </a:bodyPr>
          <a:lstStyle/>
          <a:p>
            <a:pPr rtl="0">
              <a:buNone/>
            </a:pPr>
            <a:r>
              <a:t>Architecture blueprint -</a:t>
            </a:r>
            <a:endParaRPr lang="en-IN" sz="2800" b="0" dirty="0">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DB33680-7C78-86A3-BC29-B492E8749C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408" y="1046482"/>
            <a:ext cx="9326275" cy="5739246"/>
          </a:xfrm>
          <a:prstGeom prst="rect">
            <a:avLst/>
          </a:prstGeom>
        </p:spPr>
      </p:pic>
      <p:sp>
        <p:nvSpPr>
          <p:cNvPr id="6" name="Rectangle 5"/>
          <p:cNvSpPr/>
          <p:nvPr/>
        </p:nvSpPr>
        <p:spPr>
          <a:xfrm>
            <a:off x="1184408" y="1046482"/>
            <a:ext cx="9326275" cy="573924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krishimitra_architecture.png"/>
          <p:cNvPicPr>
            <a:picLocks noChangeAspect="1"/>
          </p:cNvPicPr>
          <p:nvPr/>
        </p:nvPicPr>
        <p:blipFill>
          <a:blip r:embed="rId3"/>
          <a:stretch>
            <a:fillRect/>
          </a:stretch>
        </p:blipFill>
        <p:spPr>
          <a:xfrm>
            <a:off x="899272" y="653192"/>
            <a:ext cx="9326275" cy="5739246"/>
          </a:xfrm>
          <a:prstGeom prst="rect">
            <a:avLst/>
          </a:prstGeom>
        </p:spPr>
      </p:pic>
    </p:spTree>
    <p:extLst>
      <p:ext uri="{BB962C8B-B14F-4D97-AF65-F5344CB8AC3E}">
        <p14:creationId xmlns:p14="http://schemas.microsoft.com/office/powerpoint/2010/main" val="1534569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2A0E62-0A18-9BC0-4C32-C58A709DD8A7}"/>
              </a:ext>
            </a:extLst>
          </p:cNvPr>
          <p:cNvSpPr txBox="1"/>
          <p:nvPr/>
        </p:nvSpPr>
        <p:spPr>
          <a:xfrm>
            <a:off x="368710" y="164590"/>
            <a:ext cx="9055509" cy="523220"/>
          </a:xfrm>
          <a:prstGeom prst="rect">
            <a:avLst/>
          </a:prstGeom>
          <a:noFill/>
        </p:spPr>
        <p:txBody>
          <a:bodyPr wrap="square">
            <a:spAutoFit/>
          </a:bodyPr>
          <a:lstStyle/>
          <a:p>
            <a:pPr rtl="0">
              <a:buNone/>
            </a:pPr>
            <a:r>
              <a:rPr sz="2800" b="1" dirty="0">
                <a:latin typeface="Arial" panose="020B0604020202020204" pitchFamily="34" charset="0"/>
                <a:cs typeface="Arial" panose="020B0604020202020204" pitchFamily="34" charset="0"/>
              </a:rPr>
              <a:t>Role of Agentic AI in the solution</a:t>
            </a:r>
            <a:endParaRPr lang="en-IN" sz="2800" b="1" dirty="0">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EDFA9DB-8B01-A8C1-84F8-D9911DEA9D8C}"/>
              </a:ext>
            </a:extLst>
          </p:cNvPr>
          <p:cNvSpPr txBox="1"/>
          <p:nvPr/>
        </p:nvSpPr>
        <p:spPr>
          <a:xfrm>
            <a:off x="368710" y="946355"/>
            <a:ext cx="6307392" cy="5324535"/>
          </a:xfrm>
          <a:prstGeom prst="rect">
            <a:avLst/>
          </a:prstGeom>
          <a:noFill/>
        </p:spPr>
        <p:txBody>
          <a:bodyPr wrap="square">
            <a:spAutoFit/>
          </a:bodyPr>
          <a:lstStyle/>
          <a:p>
            <a:pPr>
              <a:buNone/>
            </a:pPr>
            <a:r>
              <a:rPr sz="2000" dirty="0">
                <a:latin typeface="Arial" panose="020B0604020202020204" pitchFamily="34" charset="0"/>
                <a:cs typeface="Arial" panose="020B0604020202020204" pitchFamily="34" charset="0"/>
              </a:rPr>
              <a:t>Role of Agentic AI in </a:t>
            </a:r>
            <a:r>
              <a:rPr sz="2000" dirty="0" err="1">
                <a:latin typeface="Arial" panose="020B0604020202020204" pitchFamily="34" charset="0"/>
                <a:cs typeface="Arial" panose="020B0604020202020204" pitchFamily="34" charset="0"/>
              </a:rPr>
              <a:t>KrishiMitra</a:t>
            </a:r>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Agentic AI enables </a:t>
            </a:r>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to understand farmer queries, identify the intent and decide which tool or knowledge source is needed. Powered by IBM watsonx.ai and IBM Granite Models, the agent can reason over farming questions and provide </a:t>
            </a:r>
            <a:r>
              <a:rPr sz="2000" dirty="0" err="1">
                <a:latin typeface="Arial" panose="020B0604020202020204" pitchFamily="34" charset="0"/>
                <a:cs typeface="Arial" panose="020B0604020202020204" pitchFamily="34" charset="0"/>
              </a:rPr>
              <a:t>localised</a:t>
            </a:r>
            <a:r>
              <a:rPr sz="2000" dirty="0">
                <a:latin typeface="Arial" panose="020B0604020202020204" pitchFamily="34" charset="0"/>
                <a:cs typeface="Arial" panose="020B0604020202020204" pitchFamily="34" charset="0"/>
              </a:rPr>
              <a:t>, useful advice.</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The agent detects language, translates the query, classifies it as weather, market, crop advice, pest control or general farming, fetches real-time data where required, retrieves relevant farming knowledge through RAG and generates a grounded response.</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This makes the solution more than a chatbot: it works like a digital farm assistant that actively chooses the right steps to support farmers with decision-making</a:t>
            </a:r>
            <a:r>
              <a:rPr dirty="0"/>
              <a:t>.</a:t>
            </a:r>
          </a:p>
        </p:txBody>
      </p:sp>
      <p:pic>
        <p:nvPicPr>
          <p:cNvPr id="6" name="Picture 5" descr="Plan and Execute Agents with Chain of Reasoning: An Improved ...">
            <a:extLst>
              <a:ext uri="{FF2B5EF4-FFF2-40B4-BE49-F238E27FC236}">
                <a16:creationId xmlns:a16="http://schemas.microsoft.com/office/drawing/2014/main" id="{C234A93C-BA2A-FA83-AB84-EC61F2F780A2}"/>
              </a:ext>
            </a:extLst>
          </p:cNvPr>
          <p:cNvPicPr>
            <a:picLocks noChangeAspect="1"/>
          </p:cNvPicPr>
          <p:nvPr/>
        </p:nvPicPr>
        <p:blipFill>
          <a:blip r:embed="rId2"/>
          <a:stretch>
            <a:fillRect/>
          </a:stretch>
        </p:blipFill>
        <p:spPr>
          <a:xfrm>
            <a:off x="6676102" y="946355"/>
            <a:ext cx="5147188" cy="5147188"/>
          </a:xfrm>
          <a:prstGeom prst="rect">
            <a:avLst/>
          </a:prstGeom>
        </p:spPr>
      </p:pic>
    </p:spTree>
    <p:extLst>
      <p:ext uri="{BB962C8B-B14F-4D97-AF65-F5344CB8AC3E}">
        <p14:creationId xmlns:p14="http://schemas.microsoft.com/office/powerpoint/2010/main" val="2766349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26C253-4AE4-49B6-D511-2F51760884F5}"/>
              </a:ext>
            </a:extLst>
          </p:cNvPr>
          <p:cNvSpPr txBox="1"/>
          <p:nvPr/>
        </p:nvSpPr>
        <p:spPr>
          <a:xfrm>
            <a:off x="353963" y="505038"/>
            <a:ext cx="6096000" cy="523220"/>
          </a:xfrm>
          <a:prstGeom prst="rect">
            <a:avLst/>
          </a:prstGeom>
          <a:noFill/>
        </p:spPr>
        <p:txBody>
          <a:bodyPr wrap="square">
            <a:spAutoFit/>
          </a:bodyPr>
          <a:lstStyle/>
          <a:p>
            <a:pPr rtl="0">
              <a:buNone/>
            </a:pPr>
            <a:r>
              <a:rPr sz="2800" dirty="0">
                <a:latin typeface="Arial" panose="020B0604020202020204" pitchFamily="34" charset="0"/>
                <a:cs typeface="Arial" panose="020B0604020202020204" pitchFamily="34" charset="0"/>
              </a:rPr>
              <a:t>Token Usage</a:t>
            </a:r>
            <a:endParaRPr lang="en-IN" sz="2800" b="0" dirty="0">
              <a:effectLst/>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D66A190-D823-12FD-DEB2-7794F14865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746" y="2167374"/>
            <a:ext cx="5576183" cy="2722052"/>
          </a:xfrm>
          <a:prstGeom prst="rect">
            <a:avLst/>
          </a:prstGeom>
        </p:spPr>
      </p:pic>
      <p:pic>
        <p:nvPicPr>
          <p:cNvPr id="13" name="Picture 12">
            <a:extLst>
              <a:ext uri="{FF2B5EF4-FFF2-40B4-BE49-F238E27FC236}">
                <a16:creationId xmlns:a16="http://schemas.microsoft.com/office/drawing/2014/main" id="{B4AAE0E7-B33A-CE6D-A44F-85C1445F3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7845" y="2167374"/>
            <a:ext cx="6096000" cy="2722053"/>
          </a:xfrm>
          <a:prstGeom prst="rect">
            <a:avLst/>
          </a:prstGeom>
        </p:spPr>
      </p:pic>
    </p:spTree>
    <p:extLst>
      <p:ext uri="{BB962C8B-B14F-4D97-AF65-F5344CB8AC3E}">
        <p14:creationId xmlns:p14="http://schemas.microsoft.com/office/powerpoint/2010/main" val="3725316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42CF1B-FC4E-C13B-12F2-247514549766}"/>
              </a:ext>
            </a:extLst>
          </p:cNvPr>
          <p:cNvPicPr>
            <a:picLocks noChangeAspect="1"/>
          </p:cNvPicPr>
          <p:nvPr/>
        </p:nvPicPr>
        <p:blipFill>
          <a:blip r:embed="rId2"/>
          <a:stretch>
            <a:fillRect/>
          </a:stretch>
        </p:blipFill>
        <p:spPr>
          <a:xfrm>
            <a:off x="6184963" y="1552570"/>
            <a:ext cx="6007037" cy="3088256"/>
          </a:xfrm>
          <a:prstGeom prst="rect">
            <a:avLst/>
          </a:prstGeom>
        </p:spPr>
      </p:pic>
      <p:pic>
        <p:nvPicPr>
          <p:cNvPr id="5" name="Picture 4">
            <a:extLst>
              <a:ext uri="{FF2B5EF4-FFF2-40B4-BE49-F238E27FC236}">
                <a16:creationId xmlns:a16="http://schemas.microsoft.com/office/drawing/2014/main" id="{A265F344-3B5B-5440-DCEF-4FC0F2F460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19" y="1552570"/>
            <a:ext cx="5919019" cy="3088256"/>
          </a:xfrm>
          <a:prstGeom prst="rect">
            <a:avLst/>
          </a:prstGeom>
        </p:spPr>
      </p:pic>
      <p:sp>
        <p:nvSpPr>
          <p:cNvPr id="8" name="TextBox 7">
            <a:extLst>
              <a:ext uri="{FF2B5EF4-FFF2-40B4-BE49-F238E27FC236}">
                <a16:creationId xmlns:a16="http://schemas.microsoft.com/office/drawing/2014/main" id="{E0768ED9-381C-3339-5AB4-0229EDCEAC0F}"/>
              </a:ext>
            </a:extLst>
          </p:cNvPr>
          <p:cNvSpPr txBox="1"/>
          <p:nvPr/>
        </p:nvSpPr>
        <p:spPr>
          <a:xfrm>
            <a:off x="904568" y="963561"/>
            <a:ext cx="3293807" cy="400110"/>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Before prompt</a:t>
            </a:r>
          </a:p>
        </p:txBody>
      </p:sp>
      <p:sp>
        <p:nvSpPr>
          <p:cNvPr id="9" name="TextBox 8">
            <a:extLst>
              <a:ext uri="{FF2B5EF4-FFF2-40B4-BE49-F238E27FC236}">
                <a16:creationId xmlns:a16="http://schemas.microsoft.com/office/drawing/2014/main" id="{A4BD0A21-5889-A2EF-2D89-76C2AB184D37}"/>
              </a:ext>
            </a:extLst>
          </p:cNvPr>
          <p:cNvSpPr txBox="1"/>
          <p:nvPr/>
        </p:nvSpPr>
        <p:spPr>
          <a:xfrm>
            <a:off x="6518786" y="963561"/>
            <a:ext cx="2239673" cy="400110"/>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After prompt</a:t>
            </a:r>
          </a:p>
        </p:txBody>
      </p:sp>
    </p:spTree>
    <p:extLst>
      <p:ext uri="{BB962C8B-B14F-4D97-AF65-F5344CB8AC3E}">
        <p14:creationId xmlns:p14="http://schemas.microsoft.com/office/powerpoint/2010/main" val="264011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893C61-8515-3875-E82F-DADA4F5C7D93}"/>
              </a:ext>
            </a:extLst>
          </p:cNvPr>
          <p:cNvPicPr>
            <a:picLocks noChangeAspect="1"/>
          </p:cNvPicPr>
          <p:nvPr/>
        </p:nvPicPr>
        <p:blipFill>
          <a:blip r:embed="rId2"/>
          <a:stretch>
            <a:fillRect/>
          </a:stretch>
        </p:blipFill>
        <p:spPr>
          <a:xfrm>
            <a:off x="570271" y="560439"/>
            <a:ext cx="10500262" cy="5432504"/>
          </a:xfrm>
          <a:prstGeom prst="rect">
            <a:avLst/>
          </a:prstGeom>
        </p:spPr>
      </p:pic>
    </p:spTree>
    <p:extLst>
      <p:ext uri="{BB962C8B-B14F-4D97-AF65-F5344CB8AC3E}">
        <p14:creationId xmlns:p14="http://schemas.microsoft.com/office/powerpoint/2010/main" val="2625124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18C58-EFFB-5128-56A1-10E07DA7BF1C}"/>
              </a:ext>
            </a:extLst>
          </p:cNvPr>
          <p:cNvSpPr txBox="1"/>
          <p:nvPr/>
        </p:nvSpPr>
        <p:spPr>
          <a:xfrm>
            <a:off x="432620" y="337415"/>
            <a:ext cx="6096000" cy="523220"/>
          </a:xfrm>
          <a:prstGeom prst="rect">
            <a:avLst/>
          </a:prstGeom>
          <a:noFill/>
        </p:spPr>
        <p:txBody>
          <a:bodyPr wrap="square">
            <a:spAutoFit/>
          </a:bodyPr>
          <a:lstStyle/>
          <a:p>
            <a:pPr rtl="0">
              <a:buNone/>
            </a:pPr>
            <a:r>
              <a:rPr sz="2800" b="1" dirty="0">
                <a:latin typeface="Arial" panose="020B0604020202020204" pitchFamily="34" charset="0"/>
                <a:cs typeface="Arial" panose="020B0604020202020204" pitchFamily="34" charset="0"/>
              </a:rPr>
              <a:t>Novelty and Uniqueness</a:t>
            </a:r>
            <a:endParaRPr lang="en-IN" sz="2800" b="1" dirty="0">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6AA97D3-86C3-5172-AF20-25CC194237F0}"/>
              </a:ext>
            </a:extLst>
          </p:cNvPr>
          <p:cNvSpPr txBox="1"/>
          <p:nvPr/>
        </p:nvSpPr>
        <p:spPr>
          <a:xfrm>
            <a:off x="432620" y="917912"/>
            <a:ext cx="10835148" cy="5632311"/>
          </a:xfrm>
          <a:prstGeom prst="rect">
            <a:avLst/>
          </a:prstGeom>
          <a:noFill/>
        </p:spPr>
        <p:txBody>
          <a:bodyPr wrap="square">
            <a:spAutoFit/>
          </a:bodyPr>
          <a:lstStyle/>
          <a:p>
            <a:pPr>
              <a:buNone/>
            </a:pPr>
            <a:r>
              <a:rPr sz="2000" dirty="0">
                <a:latin typeface="Arial" panose="020B0604020202020204" pitchFamily="34" charset="0"/>
                <a:cs typeface="Arial" panose="020B0604020202020204" pitchFamily="34" charset="0"/>
              </a:rPr>
              <a:t>The proposed </a:t>
            </a:r>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AI Farming Agent combines IBM watsonx.ai Granite Models with a real-time, multilingual agriculture advisory system for Indian farmers.</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AI-Powered Farm Assistant – Provides context-aware farming advice using IBM Granite models.</a:t>
            </a:r>
          </a:p>
          <a:p>
            <a:r>
              <a:rPr sz="2000" dirty="0">
                <a:latin typeface="Arial" panose="020B0604020202020204" pitchFamily="34" charset="0"/>
                <a:cs typeface="Arial" panose="020B0604020202020204" pitchFamily="34" charset="0"/>
              </a:rPr>
              <a:t>RAG-Based Knowledge Support – Retrieves grounded answers from a curated agriculture knowledge base.</a:t>
            </a:r>
          </a:p>
          <a:p>
            <a:r>
              <a:rPr sz="2000" dirty="0">
                <a:latin typeface="Arial" panose="020B0604020202020204" pitchFamily="34" charset="0"/>
                <a:cs typeface="Arial" panose="020B0604020202020204" pitchFamily="34" charset="0"/>
              </a:rPr>
              <a:t>Multilingual Farmer Access – Supports 10 Indian languages with translation and </a:t>
            </a:r>
            <a:r>
              <a:rPr sz="2000" dirty="0" err="1">
                <a:latin typeface="Arial" panose="020B0604020202020204" pitchFamily="34" charset="0"/>
                <a:cs typeface="Arial" panose="020B0604020202020204" pitchFamily="34" charset="0"/>
              </a:rPr>
              <a:t>localised</a:t>
            </a:r>
            <a:r>
              <a:rPr sz="2000" dirty="0">
                <a:latin typeface="Arial" panose="020B0604020202020204" pitchFamily="34" charset="0"/>
                <a:cs typeface="Arial" panose="020B0604020202020204" pitchFamily="34" charset="0"/>
              </a:rPr>
              <a:t> responses.</a:t>
            </a:r>
          </a:p>
          <a:p>
            <a:r>
              <a:rPr sz="2000" dirty="0">
                <a:latin typeface="Arial" panose="020B0604020202020204" pitchFamily="34" charset="0"/>
                <a:cs typeface="Arial" panose="020B0604020202020204" pitchFamily="34" charset="0"/>
              </a:rPr>
              <a:t>Real-Time Weather &amp; Mandi Insights – Uses live weather and market data to improve decisions.</a:t>
            </a:r>
          </a:p>
          <a:p>
            <a:r>
              <a:rPr sz="2000" dirty="0">
                <a:latin typeface="Arial" panose="020B0604020202020204" pitchFamily="34" charset="0"/>
                <a:cs typeface="Arial" panose="020B0604020202020204" pitchFamily="34" charset="0"/>
              </a:rPr>
              <a:t>Crop &amp; Pest Advisory – Suggests crops based on soil and season and supports pest-control guidance.</a:t>
            </a:r>
          </a:p>
          <a:p>
            <a:r>
              <a:rPr sz="2000" dirty="0">
                <a:latin typeface="Arial" panose="020B0604020202020204" pitchFamily="34" charset="0"/>
                <a:cs typeface="Arial" panose="020B0604020202020204" pitchFamily="34" charset="0"/>
              </a:rPr>
              <a:t>Voice and Web Chat Support – Makes the solution easy to use for farmers on any device.</a:t>
            </a:r>
          </a:p>
          <a:p>
            <a:r>
              <a:rPr sz="2000" dirty="0">
                <a:latin typeface="Arial" panose="020B0604020202020204" pitchFamily="34" charset="0"/>
                <a:cs typeface="Arial" panose="020B0604020202020204" pitchFamily="34" charset="0"/>
              </a:rPr>
              <a:t>Cloud-Ready Deployment – Built with </a:t>
            </a:r>
            <a:r>
              <a:rPr sz="2000" dirty="0" err="1">
                <a:latin typeface="Arial" panose="020B0604020202020204" pitchFamily="34" charset="0"/>
                <a:cs typeface="Arial" panose="020B0604020202020204" pitchFamily="34" charset="0"/>
              </a:rPr>
              <a:t>FastAPI</a:t>
            </a:r>
            <a:r>
              <a:rPr sz="2000" dirty="0">
                <a:latin typeface="Arial" panose="020B0604020202020204" pitchFamily="34" charset="0"/>
                <a:cs typeface="Arial" panose="020B0604020202020204" pitchFamily="34" charset="0"/>
              </a:rPr>
              <a:t> and prepared for hosting through Render.</a:t>
            </a:r>
          </a:p>
          <a:p>
            <a:endParaRPr sz="2000" dirty="0">
              <a:latin typeface="Arial" panose="020B0604020202020204" pitchFamily="34" charset="0"/>
              <a:cs typeface="Arial" panose="020B0604020202020204" pitchFamily="34" charset="0"/>
            </a:endParaRPr>
          </a:p>
          <a:p>
            <a:r>
              <a:rPr sz="2000" dirty="0">
                <a:latin typeface="Arial" panose="020B0604020202020204" pitchFamily="34" charset="0"/>
                <a:cs typeface="Arial" panose="020B0604020202020204" pitchFamily="34" charset="0"/>
              </a:rPr>
              <a:t>Overall, </a:t>
            </a:r>
            <a:r>
              <a:rPr sz="2000" dirty="0" err="1">
                <a:latin typeface="Arial" panose="020B0604020202020204" pitchFamily="34" charset="0"/>
                <a:cs typeface="Arial" panose="020B0604020202020204" pitchFamily="34" charset="0"/>
              </a:rPr>
              <a:t>KrishiMitra</a:t>
            </a:r>
            <a:r>
              <a:rPr sz="2000" dirty="0">
                <a:latin typeface="Arial" panose="020B0604020202020204" pitchFamily="34" charset="0"/>
                <a:cs typeface="Arial" panose="020B0604020202020204" pitchFamily="34" charset="0"/>
              </a:rPr>
              <a:t> acts as an intelligent digital farm friend that helps farmers make timely, data-driven and practical agricultural decisions.</a:t>
            </a:r>
          </a:p>
        </p:txBody>
      </p:sp>
    </p:spTree>
    <p:extLst>
      <p:ext uri="{BB962C8B-B14F-4D97-AF65-F5344CB8AC3E}">
        <p14:creationId xmlns:p14="http://schemas.microsoft.com/office/powerpoint/2010/main" val="2867390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24A7FB-500C-C52D-AB09-5262109432BF}"/>
              </a:ext>
            </a:extLst>
          </p:cNvPr>
          <p:cNvSpPr txBox="1"/>
          <p:nvPr/>
        </p:nvSpPr>
        <p:spPr>
          <a:xfrm>
            <a:off x="894736" y="1029447"/>
            <a:ext cx="6096000" cy="523220"/>
          </a:xfrm>
          <a:prstGeom prst="rect">
            <a:avLst/>
          </a:prstGeom>
          <a:noFill/>
        </p:spPr>
        <p:txBody>
          <a:bodyPr wrap="square">
            <a:spAutoFit/>
          </a:bodyPr>
          <a:lstStyle/>
          <a:p>
            <a:pPr rtl="0">
              <a:buNone/>
            </a:pPr>
            <a:r>
              <a:rPr sz="2800" b="1" dirty="0">
                <a:latin typeface="Arial" panose="020B0604020202020204" pitchFamily="34" charset="0"/>
                <a:cs typeface="Arial" panose="020B0604020202020204" pitchFamily="34" charset="0"/>
              </a:rPr>
              <a:t>Git Hub Link:</a:t>
            </a:r>
            <a:endParaRPr lang="en-IN" sz="2800" b="1" dirty="0">
              <a:effectLst/>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2D6934E-DF1E-C813-1F86-5E00A3072B6D}"/>
              </a:ext>
            </a:extLst>
          </p:cNvPr>
          <p:cNvSpPr txBox="1"/>
          <p:nvPr/>
        </p:nvSpPr>
        <p:spPr>
          <a:xfrm>
            <a:off x="894736" y="2003487"/>
            <a:ext cx="6623664" cy="400110"/>
          </a:xfrm>
          <a:prstGeom prst="rect">
            <a:avLst/>
          </a:prstGeom>
          <a:noFill/>
        </p:spPr>
        <p:txBody>
          <a:bodyPr wrap="square">
            <a:spAutoFit/>
          </a:bodyPr>
          <a:lstStyle/>
          <a:p>
            <a:r>
              <a:rPr lang="en-IN" sz="2000" dirty="0">
                <a:hlinkClick r:id="rId2"/>
              </a:rPr>
              <a:t>https://github.com/jashodhaborana09/Farming-Agent-AICTE</a:t>
            </a:r>
            <a:endParaRPr lang="en-IN" sz="2000" dirty="0"/>
          </a:p>
        </p:txBody>
      </p:sp>
    </p:spTree>
    <p:extLst>
      <p:ext uri="{BB962C8B-B14F-4D97-AF65-F5344CB8AC3E}">
        <p14:creationId xmlns:p14="http://schemas.microsoft.com/office/powerpoint/2010/main" val="198483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746883-E677-7890-4698-89EB745B00FB}"/>
              </a:ext>
            </a:extLst>
          </p:cNvPr>
          <p:cNvSpPr txBox="1"/>
          <p:nvPr/>
        </p:nvSpPr>
        <p:spPr>
          <a:xfrm>
            <a:off x="521109" y="335122"/>
            <a:ext cx="6096000" cy="523220"/>
          </a:xfrm>
          <a:prstGeom prst="rect">
            <a:avLst/>
          </a:prstGeom>
          <a:noFill/>
        </p:spPr>
        <p:txBody>
          <a:bodyPr wrap="square">
            <a:spAutoFit/>
          </a:bodyPr>
          <a:lstStyle/>
          <a:p>
            <a:pPr rtl="0">
              <a:buNone/>
            </a:pPr>
            <a:r>
              <a:rPr sz="2800" b="1" dirty="0">
                <a:latin typeface="Arial" panose="020B0604020202020204" pitchFamily="34" charset="0"/>
                <a:cs typeface="Arial" panose="020B0604020202020204" pitchFamily="34" charset="0"/>
              </a:rPr>
              <a:t>Future Scope</a:t>
            </a:r>
            <a:endParaRPr lang="en-IN" sz="2800" b="1" dirty="0">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84F7CD9-048D-739F-CD08-47D18A862170}"/>
              </a:ext>
            </a:extLst>
          </p:cNvPr>
          <p:cNvSpPr txBox="1"/>
          <p:nvPr/>
        </p:nvSpPr>
        <p:spPr>
          <a:xfrm>
            <a:off x="521109" y="955011"/>
            <a:ext cx="11031793" cy="4708981"/>
          </a:xfrm>
          <a:prstGeom prst="rect">
            <a:avLst/>
          </a:prstGeom>
          <a:noFill/>
        </p:spPr>
        <p:txBody>
          <a:bodyPr wrap="square">
            <a:spAutoFit/>
          </a:bodyPr>
          <a:lstStyle/>
          <a:p>
            <a:pPr>
              <a:buNone/>
            </a:pPr>
            <a:r>
              <a:rPr sz="2000" dirty="0">
                <a:latin typeface="Arial" panose="020B0604020202020204" pitchFamily="34" charset="0"/>
                <a:cs typeface="Arial" panose="020B0604020202020204" pitchFamily="34" charset="0"/>
              </a:rPr>
              <a:t>1. Image-Based Crop Disease Detection</a:t>
            </a:r>
            <a:br>
              <a:rPr sz="2000" dirty="0">
                <a:latin typeface="Arial" panose="020B0604020202020204" pitchFamily="34" charset="0"/>
                <a:cs typeface="Arial" panose="020B0604020202020204" pitchFamily="34" charset="0"/>
              </a:rPr>
            </a:br>
            <a:r>
              <a:rPr sz="2000" dirty="0">
                <a:latin typeface="Arial" panose="020B0604020202020204" pitchFamily="34" charset="0"/>
                <a:cs typeface="Arial" panose="020B0604020202020204" pitchFamily="34" charset="0"/>
              </a:rPr>
              <a:t>Enable farmers to upload crop leaf images for automatic disease identification and treatment suggestions using computer vision.</a:t>
            </a:r>
          </a:p>
          <a:p>
            <a:r>
              <a:rPr sz="2000" dirty="0">
                <a:latin typeface="Arial" panose="020B0604020202020204" pitchFamily="34" charset="0"/>
                <a:cs typeface="Arial" panose="020B0604020202020204" pitchFamily="34" charset="0"/>
              </a:rPr>
              <a:t>2. GPS-Based Local Advisory</a:t>
            </a:r>
            <a:br>
              <a:rPr sz="2000" dirty="0">
                <a:latin typeface="Arial" panose="020B0604020202020204" pitchFamily="34" charset="0"/>
                <a:cs typeface="Arial" panose="020B0604020202020204" pitchFamily="34" charset="0"/>
              </a:rPr>
            </a:br>
            <a:r>
              <a:rPr sz="2000" dirty="0">
                <a:latin typeface="Arial" panose="020B0604020202020204" pitchFamily="34" charset="0"/>
                <a:cs typeface="Arial" panose="020B0604020202020204" pitchFamily="34" charset="0"/>
              </a:rPr>
              <a:t>Use location data to provide more accurate weather, soil, scheme and mandi recommendations based on the farmer’s region.</a:t>
            </a:r>
          </a:p>
          <a:p>
            <a:r>
              <a:rPr sz="2000" dirty="0">
                <a:latin typeface="Arial" panose="020B0604020202020204" pitchFamily="34" charset="0"/>
                <a:cs typeface="Arial" panose="020B0604020202020204" pitchFamily="34" charset="0"/>
              </a:rPr>
              <a:t>3. Voice Assistant &amp; Offline Support</a:t>
            </a:r>
            <a:br>
              <a:rPr sz="2000" dirty="0">
                <a:latin typeface="Arial" panose="020B0604020202020204" pitchFamily="34" charset="0"/>
                <a:cs typeface="Arial" panose="020B0604020202020204" pitchFamily="34" charset="0"/>
              </a:rPr>
            </a:br>
            <a:r>
              <a:rPr sz="2000" dirty="0">
                <a:latin typeface="Arial" panose="020B0604020202020204" pitchFamily="34" charset="0"/>
                <a:cs typeface="Arial" panose="020B0604020202020204" pitchFamily="34" charset="0"/>
              </a:rPr>
              <a:t>Add voice conversation and low-bandwidth/offline support so farmers can access guidance even with limited internet.</a:t>
            </a:r>
          </a:p>
          <a:p>
            <a:r>
              <a:rPr sz="2000" dirty="0">
                <a:latin typeface="Arial" panose="020B0604020202020204" pitchFamily="34" charset="0"/>
                <a:cs typeface="Arial" panose="020B0604020202020204" pitchFamily="34" charset="0"/>
              </a:rPr>
              <a:t>4. Advanced Farm Dashboard</a:t>
            </a:r>
            <a:br>
              <a:rPr sz="2000" dirty="0">
                <a:latin typeface="Arial" panose="020B0604020202020204" pitchFamily="34" charset="0"/>
                <a:cs typeface="Arial" panose="020B0604020202020204" pitchFamily="34" charset="0"/>
              </a:rPr>
            </a:br>
            <a:r>
              <a:rPr sz="2000" dirty="0">
                <a:latin typeface="Arial" panose="020B0604020202020204" pitchFamily="34" charset="0"/>
                <a:cs typeface="Arial" panose="020B0604020202020204" pitchFamily="34" charset="0"/>
              </a:rPr>
              <a:t>Track crop health, weather risk, market prices, income estimates and advisory history through a farmer-friendly dashboard.</a:t>
            </a:r>
          </a:p>
          <a:p>
            <a:r>
              <a:rPr sz="2000" dirty="0">
                <a:latin typeface="Arial" panose="020B0604020202020204" pitchFamily="34" charset="0"/>
                <a:cs typeface="Arial" panose="020B0604020202020204" pitchFamily="34" charset="0"/>
              </a:rPr>
              <a:t>5. IoT &amp; Sensor Integration</a:t>
            </a:r>
            <a:br>
              <a:rPr sz="2000" dirty="0">
                <a:latin typeface="Arial" panose="020B0604020202020204" pitchFamily="34" charset="0"/>
                <a:cs typeface="Arial" panose="020B0604020202020204" pitchFamily="34" charset="0"/>
              </a:rPr>
            </a:br>
            <a:r>
              <a:rPr sz="2000" dirty="0">
                <a:latin typeface="Arial" panose="020B0604020202020204" pitchFamily="34" charset="0"/>
                <a:cs typeface="Arial" panose="020B0604020202020204" pitchFamily="34" charset="0"/>
              </a:rPr>
              <a:t>Connect soil moisture, temperature and humidity sensors for precision farming recommendations and alerts.</a:t>
            </a:r>
          </a:p>
        </p:txBody>
      </p:sp>
    </p:spTree>
    <p:extLst>
      <p:ext uri="{BB962C8B-B14F-4D97-AF65-F5344CB8AC3E}">
        <p14:creationId xmlns:p14="http://schemas.microsoft.com/office/powerpoint/2010/main" val="2658473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5C480E-B219-5BF5-1AA0-FD0F2DA64009}"/>
              </a:ext>
            </a:extLst>
          </p:cNvPr>
          <p:cNvSpPr txBox="1"/>
          <p:nvPr/>
        </p:nvSpPr>
        <p:spPr>
          <a:xfrm>
            <a:off x="403123" y="231285"/>
            <a:ext cx="6096000" cy="523220"/>
          </a:xfrm>
          <a:prstGeom prst="rect">
            <a:avLst/>
          </a:prstGeom>
          <a:noFill/>
        </p:spPr>
        <p:txBody>
          <a:bodyPr wrap="square">
            <a:spAutoFit/>
          </a:bodyPr>
          <a:lstStyle/>
          <a:p>
            <a:r>
              <a:rPr lang="en-IN" sz="2800" b="1" i="0" u="none" strike="noStrike" dirty="0">
                <a:solidFill>
                  <a:srgbClr val="000000"/>
                </a:solidFill>
                <a:effectLst/>
                <a:latin typeface="Arial" panose="020B0604020202020204" pitchFamily="34" charset="0"/>
              </a:rPr>
              <a:t>Certificates Earned:</a:t>
            </a:r>
            <a:endParaRPr lang="en-IN" sz="2800" dirty="0"/>
          </a:p>
        </p:txBody>
      </p:sp>
      <p:pic>
        <p:nvPicPr>
          <p:cNvPr id="10" name="Picture 9">
            <a:extLst>
              <a:ext uri="{FF2B5EF4-FFF2-40B4-BE49-F238E27FC236}">
                <a16:creationId xmlns:a16="http://schemas.microsoft.com/office/drawing/2014/main" id="{0755BCB3-CACE-7223-A986-BA277E05B8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5120" y="855907"/>
            <a:ext cx="7840897" cy="5930800"/>
          </a:xfrm>
          <a:prstGeom prst="rect">
            <a:avLst/>
          </a:prstGeom>
        </p:spPr>
      </p:pic>
    </p:spTree>
    <p:extLst>
      <p:ext uri="{BB962C8B-B14F-4D97-AF65-F5344CB8AC3E}">
        <p14:creationId xmlns:p14="http://schemas.microsoft.com/office/powerpoint/2010/main" val="1811597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CC15B9-0794-301B-65F0-B0DB80D8D37A}"/>
              </a:ext>
            </a:extLst>
          </p:cNvPr>
          <p:cNvSpPr txBox="1"/>
          <p:nvPr/>
        </p:nvSpPr>
        <p:spPr>
          <a:xfrm>
            <a:off x="442452" y="347576"/>
            <a:ext cx="6096000" cy="1384995"/>
          </a:xfrm>
          <a:prstGeom prst="rect">
            <a:avLst/>
          </a:prstGeom>
          <a:noFill/>
        </p:spPr>
        <p:txBody>
          <a:bodyPr wrap="square">
            <a:spAutoFit/>
          </a:bodyPr>
          <a:lstStyle/>
          <a:p>
            <a:pPr rtl="0">
              <a:buNone/>
            </a:pPr>
            <a:r>
              <a:rPr lang="en-IN" sz="2800" b="1" i="0" u="none" strike="noStrike" dirty="0">
                <a:solidFill>
                  <a:srgbClr val="000000"/>
                </a:solidFill>
                <a:effectLst/>
                <a:latin typeface="Arial" panose="020B0604020202020204" pitchFamily="34" charset="0"/>
                <a:cs typeface="Arial" panose="020B0604020202020204" pitchFamily="34" charset="0"/>
              </a:rPr>
              <a:t>Certificates Earned:</a:t>
            </a:r>
            <a:r>
              <a:rPr lang="en-IN" sz="2800" b="0" i="0" u="none" strike="noStrike" dirty="0">
                <a:solidFill>
                  <a:srgbClr val="000000"/>
                </a:solidFill>
                <a:effectLst/>
                <a:latin typeface="Arial" panose="020B0604020202020204" pitchFamily="34" charset="0"/>
                <a:cs typeface="Arial" panose="020B0604020202020204" pitchFamily="34" charset="0"/>
              </a:rPr>
              <a:t>​</a:t>
            </a:r>
            <a:endParaRPr lang="en-IN" sz="2800" b="0" dirty="0">
              <a:effectLst/>
              <a:latin typeface="Arial" panose="020B0604020202020204" pitchFamily="34" charset="0"/>
              <a:cs typeface="Arial" panose="020B0604020202020204" pitchFamily="34" charset="0"/>
            </a:endParaRPr>
          </a:p>
          <a:p>
            <a:pPr>
              <a:buNone/>
            </a:pPr>
            <a:br>
              <a:rPr lang="en-IN" sz="2800" b="0" dirty="0">
                <a:effectLst/>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71EBC28-8FFB-DD26-CB0A-82A7EA659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7898" y="943941"/>
            <a:ext cx="8975299" cy="5566483"/>
          </a:xfrm>
          <a:prstGeom prst="rect">
            <a:avLst/>
          </a:prstGeom>
        </p:spPr>
      </p:pic>
    </p:spTree>
    <p:extLst>
      <p:ext uri="{BB962C8B-B14F-4D97-AF65-F5344CB8AC3E}">
        <p14:creationId xmlns:p14="http://schemas.microsoft.com/office/powerpoint/2010/main" val="3273102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E624A5-D829-3A38-4282-C91ECD52880C}"/>
              </a:ext>
            </a:extLst>
          </p:cNvPr>
          <p:cNvPicPr>
            <a:picLocks noChangeAspect="1"/>
          </p:cNvPicPr>
          <p:nvPr/>
        </p:nvPicPr>
        <p:blipFill>
          <a:blip r:embed="rId2"/>
          <a:stretch>
            <a:fillRect/>
          </a:stretch>
        </p:blipFill>
        <p:spPr>
          <a:xfrm>
            <a:off x="1129071" y="2198298"/>
            <a:ext cx="9144000" cy="1857375"/>
          </a:xfrm>
          <a:prstGeom prst="rect">
            <a:avLst/>
          </a:prstGeom>
        </p:spPr>
      </p:pic>
    </p:spTree>
    <p:extLst>
      <p:ext uri="{BB962C8B-B14F-4D97-AF65-F5344CB8AC3E}">
        <p14:creationId xmlns:p14="http://schemas.microsoft.com/office/powerpoint/2010/main" val="430796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855</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mahendra araveeti</dc:creator>
  <cp:lastModifiedBy>borana manisha</cp:lastModifiedBy>
  <cp:revision>5</cp:revision>
  <dcterms:created xsi:type="dcterms:W3CDTF">2026-07-14T16:21:11Z</dcterms:created>
  <dcterms:modified xsi:type="dcterms:W3CDTF">2026-07-20T06:36:00Z</dcterms:modified>
</cp:coreProperties>
</file>